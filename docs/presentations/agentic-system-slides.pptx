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BDCB5-4A24-4374-959B-48139AC5F0C8}" v="3" dt="2026-06-30T10:24:00.7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3" d="100"/>
          <a:sy n="93" d="100"/>
        </p:scale>
        <p:origin x="5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Jain" userId="93957029-edfd-4e4a-a74c-2c429aada16c" providerId="ADAL" clId="{67750B9D-E79E-49C1-BEE2-E82CEB5FA727}"/>
    <pc:docChg chg="undo redo custSel delSld modSld">
      <pc:chgData name="Aman Jain" userId="93957029-edfd-4e4a-a74c-2c429aada16c" providerId="ADAL" clId="{67750B9D-E79E-49C1-BEE2-E82CEB5FA727}" dt="2026-06-30T10:24:13.580" v="25" actId="47"/>
      <pc:docMkLst>
        <pc:docMk/>
      </pc:docMkLst>
      <pc:sldChg chg="modSp mod">
        <pc:chgData name="Aman Jain" userId="93957029-edfd-4e4a-a74c-2c429aada16c" providerId="ADAL" clId="{67750B9D-E79E-49C1-BEE2-E82CEB5FA727}" dt="2026-06-30T10:22:48.655" v="18" actId="14100"/>
        <pc:sldMkLst>
          <pc:docMk/>
          <pc:sldMk cId="0" sldId="261"/>
        </pc:sldMkLst>
        <pc:spChg chg="mod">
          <ac:chgData name="Aman Jain" userId="93957029-edfd-4e4a-a74c-2c429aada16c" providerId="ADAL" clId="{67750B9D-E79E-49C1-BEE2-E82CEB5FA727}" dt="2026-06-30T10:22:47.992" v="17" actId="1076"/>
          <ac:spMkLst>
            <pc:docMk/>
            <pc:sldMk cId="0" sldId="261"/>
            <ac:spMk id="2" creationId="{00000000-0000-0000-0000-000000000000}"/>
          </ac:spMkLst>
        </pc:spChg>
        <pc:picChg chg="mod">
          <ac:chgData name="Aman Jain" userId="93957029-edfd-4e4a-a74c-2c429aada16c" providerId="ADAL" clId="{67750B9D-E79E-49C1-BEE2-E82CEB5FA727}" dt="2026-06-30T10:22:48.655" v="18" actId="14100"/>
          <ac:picMkLst>
            <pc:docMk/>
            <pc:sldMk cId="0" sldId="261"/>
            <ac:picMk id="3" creationId="{00000000-0000-0000-0000-000000000000}"/>
          </ac:picMkLst>
        </pc:picChg>
      </pc:sldChg>
      <pc:sldChg chg="modSp mod">
        <pc:chgData name="Aman Jain" userId="93957029-edfd-4e4a-a74c-2c429aada16c" providerId="ADAL" clId="{67750B9D-E79E-49C1-BEE2-E82CEB5FA727}" dt="2026-06-30T10:21:41.242" v="6" actId="14100"/>
        <pc:sldMkLst>
          <pc:docMk/>
          <pc:sldMk cId="0" sldId="262"/>
        </pc:sldMkLst>
        <pc:graphicFrameChg chg="modGraphic">
          <ac:chgData name="Aman Jain" userId="93957029-edfd-4e4a-a74c-2c429aada16c" providerId="ADAL" clId="{67750B9D-E79E-49C1-BEE2-E82CEB5FA727}" dt="2026-06-30T10:21:41.242" v="6" actId="14100"/>
          <ac:graphicFrameMkLst>
            <pc:docMk/>
            <pc:sldMk cId="0" sldId="262"/>
            <ac:graphicFrameMk id="3" creationId="{00000000-0000-0000-0000-000000000000}"/>
          </ac:graphicFrameMkLst>
        </pc:graphicFrameChg>
      </pc:sldChg>
      <pc:sldChg chg="modSp mod">
        <pc:chgData name="Aman Jain" userId="93957029-edfd-4e4a-a74c-2c429aada16c" providerId="ADAL" clId="{67750B9D-E79E-49C1-BEE2-E82CEB5FA727}" dt="2026-06-30T10:21:52.012" v="7" actId="14100"/>
        <pc:sldMkLst>
          <pc:docMk/>
          <pc:sldMk cId="0" sldId="263"/>
        </pc:sldMkLst>
        <pc:graphicFrameChg chg="modGraphic">
          <ac:chgData name="Aman Jain" userId="93957029-edfd-4e4a-a74c-2c429aada16c" providerId="ADAL" clId="{67750B9D-E79E-49C1-BEE2-E82CEB5FA727}" dt="2026-06-30T10:21:52.012" v="7" actId="14100"/>
          <ac:graphicFrameMkLst>
            <pc:docMk/>
            <pc:sldMk cId="0" sldId="263"/>
            <ac:graphicFrameMk id="3" creationId="{00000000-0000-0000-0000-000000000000}"/>
          </ac:graphicFrameMkLst>
        </pc:graphicFrameChg>
      </pc:sldChg>
      <pc:sldChg chg="modSp mod">
        <pc:chgData name="Aman Jain" userId="93957029-edfd-4e4a-a74c-2c429aada16c" providerId="ADAL" clId="{67750B9D-E79E-49C1-BEE2-E82CEB5FA727}" dt="2026-06-30T10:23:21.663" v="19" actId="14100"/>
        <pc:sldMkLst>
          <pc:docMk/>
          <pc:sldMk cId="0" sldId="265"/>
        </pc:sldMkLst>
        <pc:graphicFrameChg chg="modGraphic">
          <ac:chgData name="Aman Jain" userId="93957029-edfd-4e4a-a74c-2c429aada16c" providerId="ADAL" clId="{67750B9D-E79E-49C1-BEE2-E82CEB5FA727}" dt="2026-06-30T10:23:21.663" v="19" actId="14100"/>
          <ac:graphicFrameMkLst>
            <pc:docMk/>
            <pc:sldMk cId="0" sldId="265"/>
            <ac:graphicFrameMk id="3" creationId="{00000000-0000-0000-0000-000000000000}"/>
          </ac:graphicFrameMkLst>
        </pc:graphicFrameChg>
      </pc:sldChg>
      <pc:sldChg chg="addSp modSp mod">
        <pc:chgData name="Aman Jain" userId="93957029-edfd-4e4a-a74c-2c429aada16c" providerId="ADAL" clId="{67750B9D-E79E-49C1-BEE2-E82CEB5FA727}" dt="2026-06-30T10:24:07.895" v="24" actId="1076"/>
        <pc:sldMkLst>
          <pc:docMk/>
          <pc:sldMk cId="0" sldId="267"/>
        </pc:sldMkLst>
        <pc:spChg chg="mod">
          <ac:chgData name="Aman Jain" userId="93957029-edfd-4e4a-a74c-2c429aada16c" providerId="ADAL" clId="{67750B9D-E79E-49C1-BEE2-E82CEB5FA727}" dt="2026-06-30T10:23:50.391" v="22" actId="1076"/>
          <ac:spMkLst>
            <pc:docMk/>
            <pc:sldMk cId="0" sldId="267"/>
            <ac:spMk id="2" creationId="{00000000-0000-0000-0000-000000000000}"/>
          </ac:spMkLst>
        </pc:spChg>
        <pc:spChg chg="add mod">
          <ac:chgData name="Aman Jain" userId="93957029-edfd-4e4a-a74c-2c429aada16c" providerId="ADAL" clId="{67750B9D-E79E-49C1-BEE2-E82CEB5FA727}" dt="2026-06-30T10:23:45.621" v="20"/>
          <ac:spMkLst>
            <pc:docMk/>
            <pc:sldMk cId="0" sldId="267"/>
            <ac:spMk id="6" creationId="{F9B8897E-0B60-9234-A71F-2F6076669BED}"/>
          </ac:spMkLst>
        </pc:spChg>
        <pc:spChg chg="add mod">
          <ac:chgData name="Aman Jain" userId="93957029-edfd-4e4a-a74c-2c429aada16c" providerId="ADAL" clId="{67750B9D-E79E-49C1-BEE2-E82CEB5FA727}" dt="2026-06-30T10:23:45.621" v="20"/>
          <ac:spMkLst>
            <pc:docMk/>
            <pc:sldMk cId="0" sldId="267"/>
            <ac:spMk id="7" creationId="{C4C02895-CE8B-CFBB-3BA3-B873F04DE101}"/>
          </ac:spMkLst>
        </pc:spChg>
        <pc:spChg chg="add mod">
          <ac:chgData name="Aman Jain" userId="93957029-edfd-4e4a-a74c-2c429aada16c" providerId="ADAL" clId="{67750B9D-E79E-49C1-BEE2-E82CEB5FA727}" dt="2026-06-30T10:23:45.621" v="20"/>
          <ac:spMkLst>
            <pc:docMk/>
            <pc:sldMk cId="0" sldId="267"/>
            <ac:spMk id="8" creationId="{E5BC43BC-6154-793F-2476-8FB482ACED27}"/>
          </ac:spMkLst>
        </pc:spChg>
        <pc:spChg chg="add mod">
          <ac:chgData name="Aman Jain" userId="93957029-edfd-4e4a-a74c-2c429aada16c" providerId="ADAL" clId="{67750B9D-E79E-49C1-BEE2-E82CEB5FA727}" dt="2026-06-30T10:23:45.621" v="20"/>
          <ac:spMkLst>
            <pc:docMk/>
            <pc:sldMk cId="0" sldId="267"/>
            <ac:spMk id="9" creationId="{B3C99DA9-63CB-350E-6D39-8A64A3C250DA}"/>
          </ac:spMkLst>
        </pc:spChg>
        <pc:spChg chg="add mod">
          <ac:chgData name="Aman Jain" userId="93957029-edfd-4e4a-a74c-2c429aada16c" providerId="ADAL" clId="{67750B9D-E79E-49C1-BEE2-E82CEB5FA727}" dt="2026-06-30T10:24:07.895" v="24" actId="1076"/>
          <ac:spMkLst>
            <pc:docMk/>
            <pc:sldMk cId="0" sldId="267"/>
            <ac:spMk id="10" creationId="{0B54DE39-07B2-ACA8-D46A-1C87F5954FA1}"/>
          </ac:spMkLst>
        </pc:spChg>
        <pc:spChg chg="add mod">
          <ac:chgData name="Aman Jain" userId="93957029-edfd-4e4a-a74c-2c429aada16c" providerId="ADAL" clId="{67750B9D-E79E-49C1-BEE2-E82CEB5FA727}" dt="2026-06-30T10:24:07.895" v="24" actId="1076"/>
          <ac:spMkLst>
            <pc:docMk/>
            <pc:sldMk cId="0" sldId="267"/>
            <ac:spMk id="11" creationId="{300E76CC-BC14-6156-4B67-28416C749D5C}"/>
          </ac:spMkLst>
        </pc:spChg>
        <pc:spChg chg="add mod">
          <ac:chgData name="Aman Jain" userId="93957029-edfd-4e4a-a74c-2c429aada16c" providerId="ADAL" clId="{67750B9D-E79E-49C1-BEE2-E82CEB5FA727}" dt="2026-06-30T10:24:07.895" v="24" actId="1076"/>
          <ac:spMkLst>
            <pc:docMk/>
            <pc:sldMk cId="0" sldId="267"/>
            <ac:spMk id="12" creationId="{CC614CAF-83DE-8085-8A37-8A7898CEAA3E}"/>
          </ac:spMkLst>
        </pc:spChg>
        <pc:spChg chg="add mod">
          <ac:chgData name="Aman Jain" userId="93957029-edfd-4e4a-a74c-2c429aada16c" providerId="ADAL" clId="{67750B9D-E79E-49C1-BEE2-E82CEB5FA727}" dt="2026-06-30T10:24:07.895" v="24" actId="1076"/>
          <ac:spMkLst>
            <pc:docMk/>
            <pc:sldMk cId="0" sldId="267"/>
            <ac:spMk id="13" creationId="{67D9E430-8E69-5644-3076-6BD219AA19CA}"/>
          </ac:spMkLst>
        </pc:spChg>
      </pc:sldChg>
      <pc:sldChg chg="del">
        <pc:chgData name="Aman Jain" userId="93957029-edfd-4e4a-a74c-2c429aada16c" providerId="ADAL" clId="{67750B9D-E79E-49C1-BEE2-E82CEB5FA727}" dt="2026-06-30T10:24:13.580" v="25" actId="47"/>
        <pc:sldMkLst>
          <pc:docMk/>
          <pc:sldMk cId="0"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8046720" cy="320040"/>
          </a:xfrm>
          <a:prstGeom prst="rect">
            <a:avLst/>
          </a:prstGeom>
          <a:noFill/>
        </p:spPr>
        <p:txBody>
          <a:bodyPr wrap="square">
            <a:spAutoFit/>
          </a:bodyPr>
          <a:lstStyle/>
          <a:p>
            <a:pPr algn="ctr">
              <a:defRPr sz="1100" b="0">
                <a:solidFill>
                  <a:srgbClr val="FFFFFF"/>
                </a:solidFill>
              </a:defRPr>
            </a:pPr>
            <a:r>
              <a:t>MODE GLOBAL · SUNTECK TMS · QA AI AGENT</a:t>
            </a:r>
          </a:p>
        </p:txBody>
      </p:sp>
      <p:sp>
        <p:nvSpPr>
          <p:cNvPr id="3" name="TextBox 2"/>
          <p:cNvSpPr txBox="1"/>
          <p:nvPr/>
        </p:nvSpPr>
        <p:spPr>
          <a:xfrm>
            <a:off x="457200" y="914400"/>
            <a:ext cx="8229600" cy="1097280"/>
          </a:xfrm>
          <a:prstGeom prst="rect">
            <a:avLst/>
          </a:prstGeom>
          <a:noFill/>
        </p:spPr>
        <p:txBody>
          <a:bodyPr wrap="square">
            <a:spAutoFit/>
          </a:bodyPr>
          <a:lstStyle/>
          <a:p>
            <a:pPr algn="ctr">
              <a:defRPr sz="3000" b="1">
                <a:solidFill>
                  <a:srgbClr val="FFFFFF"/>
                </a:solidFill>
              </a:defRPr>
            </a:pPr>
            <a:r>
              <a:t>Playwright Agentic Test Automation —</a:t>
            </a:r>
            <a:br/>
            <a:r>
              <a:t>Current State &amp; Gaps</a:t>
            </a:r>
          </a:p>
        </p:txBody>
      </p:sp>
      <p:sp>
        <p:nvSpPr>
          <p:cNvPr id="4" name="TextBox 3"/>
          <p:cNvSpPr txBox="1"/>
          <p:nvPr/>
        </p:nvSpPr>
        <p:spPr>
          <a:xfrm>
            <a:off x="640080" y="2011680"/>
            <a:ext cx="7863840" cy="822960"/>
          </a:xfrm>
          <a:prstGeom prst="rect">
            <a:avLst/>
          </a:prstGeom>
          <a:noFill/>
        </p:spPr>
        <p:txBody>
          <a:bodyPr wrap="square">
            <a:spAutoFit/>
          </a:bodyPr>
          <a:lstStyle/>
          <a:p>
            <a:pPr algn="ctr">
              <a:defRPr sz="1300" b="0">
                <a:solidFill>
                  <a:srgbClr val="FFFFFF"/>
                </a:solidFill>
              </a:defRPr>
            </a:pPr>
            <a:r>
              <a:t>Hybrid rule-based + LLM multi-agent pipeline for SunTeck TMS — Claude-powered generation tiers, self-healing validation, structured test inputs, and Cursor-governed guardrails.</a:t>
            </a:r>
          </a:p>
        </p:txBody>
      </p:sp>
      <p:sp>
        <p:nvSpPr>
          <p:cNvPr id="5" name="Rectangle 4"/>
          <p:cNvSpPr/>
          <p:nvPr/>
        </p:nvSpPr>
        <p:spPr>
          <a:xfrm>
            <a:off x="502920" y="2926080"/>
            <a:ext cx="1508760" cy="868680"/>
          </a:xfrm>
          <a:prstGeom prst="rect">
            <a:avLst/>
          </a:prstGeom>
          <a:solidFill>
            <a:srgbClr val="2B6CB0"/>
          </a:solidFill>
          <a:ln>
            <a:solidFill>
              <a:srgbClr val="ED89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2971800"/>
            <a:ext cx="1508760" cy="411480"/>
          </a:xfrm>
          <a:prstGeom prst="rect">
            <a:avLst/>
          </a:prstGeom>
          <a:noFill/>
        </p:spPr>
        <p:txBody>
          <a:bodyPr wrap="square">
            <a:spAutoFit/>
          </a:bodyPr>
          <a:lstStyle/>
          <a:p>
            <a:pPr algn="ctr">
              <a:defRPr sz="2400" b="1">
                <a:solidFill>
                  <a:srgbClr val="ED8936"/>
                </a:solidFill>
              </a:defRPr>
            </a:pPr>
            <a:r>
              <a:t>4</a:t>
            </a:r>
          </a:p>
        </p:txBody>
      </p:sp>
      <p:sp>
        <p:nvSpPr>
          <p:cNvPr id="7" name="TextBox 6"/>
          <p:cNvSpPr txBox="1"/>
          <p:nvPr/>
        </p:nvSpPr>
        <p:spPr>
          <a:xfrm>
            <a:off x="502920" y="3337560"/>
            <a:ext cx="1508760" cy="365760"/>
          </a:xfrm>
          <a:prstGeom prst="rect">
            <a:avLst/>
          </a:prstGeom>
          <a:noFill/>
        </p:spPr>
        <p:txBody>
          <a:bodyPr wrap="square">
            <a:spAutoFit/>
          </a:bodyPr>
          <a:lstStyle/>
          <a:p>
            <a:pPr algn="ctr">
              <a:defRPr sz="800" b="0">
                <a:solidFill>
                  <a:srgbClr val="FFFFFF"/>
                </a:solidFill>
              </a:defRPr>
            </a:pPr>
            <a:r>
              <a:t>Specialized Agents</a:t>
            </a:r>
          </a:p>
        </p:txBody>
      </p:sp>
      <p:sp>
        <p:nvSpPr>
          <p:cNvPr id="8" name="Rectangle 7"/>
          <p:cNvSpPr/>
          <p:nvPr/>
        </p:nvSpPr>
        <p:spPr>
          <a:xfrm>
            <a:off x="2130552" y="2926080"/>
            <a:ext cx="1508760" cy="868680"/>
          </a:xfrm>
          <a:prstGeom prst="rect">
            <a:avLst/>
          </a:prstGeom>
          <a:solidFill>
            <a:srgbClr val="2B6CB0"/>
          </a:solidFill>
          <a:ln>
            <a:solidFill>
              <a:srgbClr val="ED89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30552" y="2971800"/>
            <a:ext cx="1508760" cy="411480"/>
          </a:xfrm>
          <a:prstGeom prst="rect">
            <a:avLst/>
          </a:prstGeom>
          <a:noFill/>
        </p:spPr>
        <p:txBody>
          <a:bodyPr wrap="square">
            <a:spAutoFit/>
          </a:bodyPr>
          <a:lstStyle/>
          <a:p>
            <a:pPr algn="ctr">
              <a:defRPr sz="2400" b="1">
                <a:solidFill>
                  <a:srgbClr val="ED8936"/>
                </a:solidFill>
              </a:defRPr>
            </a:pPr>
            <a:r>
              <a:t>4</a:t>
            </a:r>
          </a:p>
        </p:txBody>
      </p:sp>
      <p:sp>
        <p:nvSpPr>
          <p:cNvPr id="10" name="TextBox 9"/>
          <p:cNvSpPr txBox="1"/>
          <p:nvPr/>
        </p:nvSpPr>
        <p:spPr>
          <a:xfrm>
            <a:off x="2130552" y="3337560"/>
            <a:ext cx="1508760" cy="365760"/>
          </a:xfrm>
          <a:prstGeom prst="rect">
            <a:avLst/>
          </a:prstGeom>
          <a:noFill/>
        </p:spPr>
        <p:txBody>
          <a:bodyPr wrap="square">
            <a:spAutoFit/>
          </a:bodyPr>
          <a:lstStyle/>
          <a:p>
            <a:pPr algn="ctr">
              <a:defRPr sz="800" b="0">
                <a:solidFill>
                  <a:srgbClr val="FFFFFF"/>
                </a:solidFill>
              </a:defRPr>
            </a:pPr>
            <a:r>
              <a:t>AI Generation Calls</a:t>
            </a:r>
          </a:p>
        </p:txBody>
      </p:sp>
      <p:sp>
        <p:nvSpPr>
          <p:cNvPr id="11" name="Rectangle 10"/>
          <p:cNvSpPr/>
          <p:nvPr/>
        </p:nvSpPr>
        <p:spPr>
          <a:xfrm>
            <a:off x="3758184" y="2926080"/>
            <a:ext cx="1508760" cy="868680"/>
          </a:xfrm>
          <a:prstGeom prst="rect">
            <a:avLst/>
          </a:prstGeom>
          <a:solidFill>
            <a:srgbClr val="2B6CB0"/>
          </a:solidFill>
          <a:ln>
            <a:solidFill>
              <a:srgbClr val="ED89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58184" y="2971800"/>
            <a:ext cx="1508760" cy="411480"/>
          </a:xfrm>
          <a:prstGeom prst="rect">
            <a:avLst/>
          </a:prstGeom>
          <a:noFill/>
        </p:spPr>
        <p:txBody>
          <a:bodyPr wrap="square">
            <a:spAutoFit/>
          </a:bodyPr>
          <a:lstStyle/>
          <a:p>
            <a:pPr algn="ctr">
              <a:defRPr sz="2400" b="1">
                <a:solidFill>
                  <a:srgbClr val="ED8936"/>
                </a:solidFill>
              </a:defRPr>
            </a:pPr>
            <a:r>
              <a:t>28</a:t>
            </a:r>
          </a:p>
        </p:txBody>
      </p:sp>
      <p:sp>
        <p:nvSpPr>
          <p:cNvPr id="13" name="TextBox 12"/>
          <p:cNvSpPr txBox="1"/>
          <p:nvPr/>
        </p:nvSpPr>
        <p:spPr>
          <a:xfrm>
            <a:off x="3758184" y="3337560"/>
            <a:ext cx="1508760" cy="365760"/>
          </a:xfrm>
          <a:prstGeom prst="rect">
            <a:avLst/>
          </a:prstGeom>
          <a:noFill/>
        </p:spPr>
        <p:txBody>
          <a:bodyPr wrap="square">
            <a:spAutoFit/>
          </a:bodyPr>
          <a:lstStyle/>
          <a:p>
            <a:pPr algn="ctr">
              <a:defRPr sz="800" b="0">
                <a:solidFill>
                  <a:srgbClr val="FFFFFF"/>
                </a:solidFill>
              </a:defRPr>
            </a:pPr>
            <a:r>
              <a:t>Scripts Generated</a:t>
            </a:r>
          </a:p>
        </p:txBody>
      </p:sp>
      <p:sp>
        <p:nvSpPr>
          <p:cNvPr id="14" name="Rectangle 13"/>
          <p:cNvSpPr/>
          <p:nvPr/>
        </p:nvSpPr>
        <p:spPr>
          <a:xfrm>
            <a:off x="5385816" y="2926080"/>
            <a:ext cx="1508760" cy="868680"/>
          </a:xfrm>
          <a:prstGeom prst="rect">
            <a:avLst/>
          </a:prstGeom>
          <a:solidFill>
            <a:srgbClr val="2B6CB0"/>
          </a:solidFill>
          <a:ln>
            <a:solidFill>
              <a:srgbClr val="ED89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85816" y="2971800"/>
            <a:ext cx="1508760" cy="411480"/>
          </a:xfrm>
          <a:prstGeom prst="rect">
            <a:avLst/>
          </a:prstGeom>
          <a:noFill/>
        </p:spPr>
        <p:txBody>
          <a:bodyPr wrap="square">
            <a:spAutoFit/>
          </a:bodyPr>
          <a:lstStyle/>
          <a:p>
            <a:pPr algn="ctr">
              <a:defRPr sz="2400" b="1">
                <a:solidFill>
                  <a:srgbClr val="ED8936"/>
                </a:solidFill>
              </a:defRPr>
            </a:pPr>
            <a:r>
              <a:t>130+</a:t>
            </a:r>
          </a:p>
        </p:txBody>
      </p:sp>
      <p:sp>
        <p:nvSpPr>
          <p:cNvPr id="16" name="TextBox 15"/>
          <p:cNvSpPr txBox="1"/>
          <p:nvPr/>
        </p:nvSpPr>
        <p:spPr>
          <a:xfrm>
            <a:off x="5385816" y="3337560"/>
            <a:ext cx="1508760" cy="365760"/>
          </a:xfrm>
          <a:prstGeom prst="rect">
            <a:avLst/>
          </a:prstGeom>
          <a:noFill/>
        </p:spPr>
        <p:txBody>
          <a:bodyPr wrap="square">
            <a:spAutoFit/>
          </a:bodyPr>
          <a:lstStyle/>
          <a:p>
            <a:pPr algn="ctr">
              <a:defRPr sz="800" b="0">
                <a:solidFill>
                  <a:srgbClr val="FFFFFF"/>
                </a:solidFill>
              </a:defRPr>
            </a:pPr>
            <a:r>
              <a:t>Automation Patterns</a:t>
            </a:r>
          </a:p>
        </p:txBody>
      </p:sp>
      <p:sp>
        <p:nvSpPr>
          <p:cNvPr id="17" name="Rectangle 16"/>
          <p:cNvSpPr/>
          <p:nvPr/>
        </p:nvSpPr>
        <p:spPr>
          <a:xfrm>
            <a:off x="7013448" y="2926080"/>
            <a:ext cx="1508760" cy="868680"/>
          </a:xfrm>
          <a:prstGeom prst="rect">
            <a:avLst/>
          </a:prstGeom>
          <a:solidFill>
            <a:srgbClr val="2B6CB0"/>
          </a:solidFill>
          <a:ln>
            <a:solidFill>
              <a:srgbClr val="ED89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13448" y="2971800"/>
            <a:ext cx="1508760" cy="411480"/>
          </a:xfrm>
          <a:prstGeom prst="rect">
            <a:avLst/>
          </a:prstGeom>
          <a:noFill/>
        </p:spPr>
        <p:txBody>
          <a:bodyPr wrap="square">
            <a:spAutoFit/>
          </a:bodyPr>
          <a:lstStyle/>
          <a:p>
            <a:pPr algn="ctr">
              <a:defRPr sz="2400" b="1">
                <a:solidFill>
                  <a:srgbClr val="ED8936"/>
                </a:solidFill>
              </a:defRPr>
            </a:pPr>
            <a:r>
              <a:t>3</a:t>
            </a:r>
          </a:p>
        </p:txBody>
      </p:sp>
      <p:sp>
        <p:nvSpPr>
          <p:cNvPr id="19" name="TextBox 18"/>
          <p:cNvSpPr txBox="1"/>
          <p:nvPr/>
        </p:nvSpPr>
        <p:spPr>
          <a:xfrm>
            <a:off x="7013448" y="3337560"/>
            <a:ext cx="1508760" cy="365760"/>
          </a:xfrm>
          <a:prstGeom prst="rect">
            <a:avLst/>
          </a:prstGeom>
          <a:noFill/>
        </p:spPr>
        <p:txBody>
          <a:bodyPr wrap="square">
            <a:spAutoFit/>
          </a:bodyPr>
          <a:lstStyle/>
          <a:p>
            <a:pPr algn="ctr">
              <a:defRPr sz="800" b="0">
                <a:solidFill>
                  <a:srgbClr val="FFFFFF"/>
                </a:solidFill>
              </a:defRPr>
            </a:pPr>
            <a:r>
              <a:t>Apps Covered</a:t>
            </a:r>
          </a:p>
        </p:txBody>
      </p:sp>
      <p:sp>
        <p:nvSpPr>
          <p:cNvPr id="20" name="TextBox 19"/>
          <p:cNvSpPr txBox="1"/>
          <p:nvPr/>
        </p:nvSpPr>
        <p:spPr>
          <a:xfrm>
            <a:off x="457200" y="4434840"/>
            <a:ext cx="8229600" cy="320040"/>
          </a:xfrm>
          <a:prstGeom prst="rect">
            <a:avLst/>
          </a:prstGeom>
          <a:noFill/>
        </p:spPr>
        <p:txBody>
          <a:bodyPr wrap="square">
            <a:spAutoFit/>
          </a:bodyPr>
          <a:lstStyle/>
          <a:p>
            <a:pPr algn="ctr">
              <a:defRPr sz="900" b="0">
                <a:solidFill>
                  <a:srgbClr val="FFFFFF"/>
                </a:solidFill>
              </a:defRPr>
            </a:pPr>
            <a:r>
              <a:t>Prepared By: R Systems International  |  Prepared For: Mode Global  |  Platform: SunTeck TMS (BTMS · DME · TNX)  |  Date: June 29,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457200"/>
          </a:xfrm>
          <a:prstGeom prst="rect">
            <a:avLst/>
          </a:prstGeom>
          <a:noFill/>
        </p:spPr>
        <p:txBody>
          <a:bodyPr wrap="square">
            <a:spAutoFit/>
          </a:bodyPr>
          <a:lstStyle/>
          <a:p>
            <a:pPr algn="l">
              <a:defRPr sz="2800" b="1">
                <a:solidFill>
                  <a:srgbClr val="1A365D"/>
                </a:solidFill>
              </a:defRPr>
            </a:pPr>
            <a:r>
              <a:t>Contents</a:t>
            </a:r>
          </a:p>
        </p:txBody>
      </p:sp>
      <p:sp>
        <p:nvSpPr>
          <p:cNvPr id="3" name="TextBox 2"/>
          <p:cNvSpPr txBox="1"/>
          <p:nvPr/>
        </p:nvSpPr>
        <p:spPr>
          <a:xfrm>
            <a:off x="731520" y="1371600"/>
            <a:ext cx="7315200" cy="2286000"/>
          </a:xfrm>
          <a:prstGeom prst="rect">
            <a:avLst/>
          </a:prstGeom>
          <a:noFill/>
        </p:spPr>
        <p:txBody>
          <a:bodyPr wrap="square">
            <a:spAutoFit/>
          </a:bodyPr>
          <a:lstStyle/>
          <a:p>
            <a:pPr>
              <a:spcAft>
                <a:spcPts val="600"/>
              </a:spcAft>
              <a:defRPr sz="2000">
                <a:solidFill>
                  <a:srgbClr val="2D3748"/>
                </a:solidFill>
              </a:defRPr>
            </a:pPr>
            <a:r>
              <a:t>1  What We Built — The Agent Pipeline</a:t>
            </a:r>
          </a:p>
          <a:p>
            <a:pPr>
              <a:spcAft>
                <a:spcPts val="600"/>
              </a:spcAft>
              <a:defRPr sz="2000">
                <a:solidFill>
                  <a:srgbClr val="2D3748"/>
                </a:solidFill>
              </a:defRPr>
            </a:pPr>
            <a:r>
              <a:t>2  Upstream Gaps &amp;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11480" cy="4114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3" name="TextBox 2"/>
          <p:cNvSpPr txBox="1"/>
          <p:nvPr/>
        </p:nvSpPr>
        <p:spPr>
          <a:xfrm>
            <a:off x="960120" y="292608"/>
            <a:ext cx="7772400" cy="502920"/>
          </a:xfrm>
          <a:prstGeom prst="rect">
            <a:avLst/>
          </a:prstGeom>
          <a:noFill/>
        </p:spPr>
        <p:txBody>
          <a:bodyPr wrap="square">
            <a:spAutoFit/>
          </a:bodyPr>
          <a:lstStyle/>
          <a:p>
            <a:pPr algn="l">
              <a:defRPr sz="2600" b="1">
                <a:solidFill>
                  <a:srgbClr val="1A365D"/>
                </a:solidFill>
              </a:defRPr>
            </a:pPr>
            <a:r>
              <a:t>What We Built — The Agent Pipeline</a:t>
            </a:r>
          </a:p>
        </p:txBody>
      </p:sp>
      <p:sp>
        <p:nvSpPr>
          <p:cNvPr id="4" name="Rectangle 3"/>
          <p:cNvSpPr/>
          <p:nvPr/>
        </p:nvSpPr>
        <p:spPr>
          <a:xfrm>
            <a:off x="457200" y="914400"/>
            <a:ext cx="8229600" cy="77724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005840"/>
            <a:ext cx="7955279" cy="640080"/>
          </a:xfrm>
          <a:prstGeom prst="rect">
            <a:avLst/>
          </a:prstGeom>
          <a:noFill/>
        </p:spPr>
        <p:txBody>
          <a:bodyPr wrap="square">
            <a:spAutoFit/>
          </a:bodyPr>
          <a:lstStyle/>
          <a:p>
            <a:pPr algn="l">
              <a:defRPr sz="1200" b="0">
                <a:solidFill>
                  <a:srgbClr val="38A169"/>
                </a:solidFill>
              </a:defRPr>
            </a:pPr>
            <a:r>
              <a:t>Outcome: Written test cases flow through a four-agent pipeline and emerge as validated, runnable Playwright scripts.</a:t>
            </a:r>
            <a:br/>
            <a:r>
              <a:t>Delivered: 24 billing toggle and 4 DFB test scripts successfully generated through this architecture.</a:t>
            </a:r>
          </a:p>
        </p:txBody>
      </p:sp>
      <p:sp>
        <p:nvSpPr>
          <p:cNvPr id="6" name="TextBox 5"/>
          <p:cNvSpPr txBox="1"/>
          <p:nvPr/>
        </p:nvSpPr>
        <p:spPr>
          <a:xfrm>
            <a:off x="457200" y="1828800"/>
            <a:ext cx="8229600" cy="731520"/>
          </a:xfrm>
          <a:prstGeom prst="rect">
            <a:avLst/>
          </a:prstGeom>
          <a:noFill/>
        </p:spPr>
        <p:txBody>
          <a:bodyPr wrap="square">
            <a:spAutoFit/>
          </a:bodyPr>
          <a:lstStyle/>
          <a:p>
            <a:pPr algn="l">
              <a:defRPr sz="1300" b="0">
                <a:solidFill>
                  <a:srgbClr val="2D3748"/>
                </a:solidFill>
              </a:defRPr>
            </a:pPr>
            <a:r>
              <a:t>The pipeline combines deterministic automation rules (proven patterns, real UI locators) with Claude AI calls at four strategic points. Every script is reviewed by the Quality Guardian and Coverage Ensurer before it is saved.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11480"/>
          </a:xfrm>
          <a:prstGeom prst="rect">
            <a:avLst/>
          </a:prstGeom>
          <a:noFill/>
        </p:spPr>
        <p:txBody>
          <a:bodyPr wrap="square">
            <a:spAutoFit/>
          </a:bodyPr>
          <a:lstStyle/>
          <a:p>
            <a:pPr algn="l">
              <a:defRPr sz="2400" b="1">
                <a:solidFill>
                  <a:srgbClr val="1A365D"/>
                </a:solidFill>
              </a:defRPr>
            </a:pPr>
            <a:r>
              <a:t>Specialized Agents</a:t>
            </a:r>
          </a:p>
        </p:txBody>
      </p:sp>
      <p:sp>
        <p:nvSpPr>
          <p:cNvPr id="3" name="Rectangle 2"/>
          <p:cNvSpPr/>
          <p:nvPr/>
        </p:nvSpPr>
        <p:spPr>
          <a:xfrm>
            <a:off x="365760" y="914400"/>
            <a:ext cx="4114800" cy="1234440"/>
          </a:xfrm>
          <a:prstGeom prst="rect">
            <a:avLst/>
          </a:prstGeom>
          <a:solidFill>
            <a:srgbClr val="F7FAFC"/>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87552"/>
            <a:ext cx="3931920" cy="274320"/>
          </a:xfrm>
          <a:prstGeom prst="rect">
            <a:avLst/>
          </a:prstGeom>
          <a:noFill/>
        </p:spPr>
        <p:txBody>
          <a:bodyPr wrap="square">
            <a:spAutoFit/>
          </a:bodyPr>
          <a:lstStyle/>
          <a:p>
            <a:pPr algn="l">
              <a:defRPr sz="1200" b="1">
                <a:solidFill>
                  <a:srgbClr val="1A365D"/>
                </a:solidFill>
              </a:defRPr>
            </a:pPr>
            <a:r>
              <a:t>✦ AI Script Writer</a:t>
            </a:r>
          </a:p>
        </p:txBody>
      </p:sp>
      <p:sp>
        <p:nvSpPr>
          <p:cNvPr id="5" name="TextBox 4"/>
          <p:cNvSpPr txBox="1"/>
          <p:nvPr/>
        </p:nvSpPr>
        <p:spPr>
          <a:xfrm>
            <a:off x="457200" y="1234440"/>
            <a:ext cx="3931920" cy="201168"/>
          </a:xfrm>
          <a:prstGeom prst="rect">
            <a:avLst/>
          </a:prstGeom>
          <a:noFill/>
        </p:spPr>
        <p:txBody>
          <a:bodyPr wrap="square">
            <a:spAutoFit/>
          </a:bodyPr>
          <a:lstStyle/>
          <a:p>
            <a:pPr algn="l">
              <a:defRPr sz="900" b="0">
                <a:solidFill>
                  <a:srgbClr val="718096"/>
                </a:solidFill>
              </a:defRPr>
            </a:pPr>
            <a:r>
              <a:t>Claude · 4 generation calls</a:t>
            </a:r>
          </a:p>
        </p:txBody>
      </p:sp>
      <p:sp>
        <p:nvSpPr>
          <p:cNvPr id="6" name="TextBox 5"/>
          <p:cNvSpPr txBox="1"/>
          <p:nvPr/>
        </p:nvSpPr>
        <p:spPr>
          <a:xfrm>
            <a:off x="457200" y="1417320"/>
            <a:ext cx="3931920" cy="640080"/>
          </a:xfrm>
          <a:prstGeom prst="rect">
            <a:avLst/>
          </a:prstGeom>
          <a:noFill/>
        </p:spPr>
        <p:txBody>
          <a:bodyPr wrap="square">
            <a:spAutoFit/>
          </a:bodyPr>
          <a:lstStyle/>
          <a:p>
            <a:pPr algn="l">
              <a:defRPr sz="1000" b="0">
                <a:solidFill>
                  <a:srgbClr val="2D3748"/>
                </a:solidFill>
              </a:defRPr>
            </a:pPr>
            <a:r>
              <a:t>Writes and adapts test scripts. Claude CLI primary; Anthropic API backup.</a:t>
            </a:r>
          </a:p>
        </p:txBody>
      </p:sp>
      <p:sp>
        <p:nvSpPr>
          <p:cNvPr id="7" name="Rectangle 6"/>
          <p:cNvSpPr/>
          <p:nvPr/>
        </p:nvSpPr>
        <p:spPr>
          <a:xfrm>
            <a:off x="4663440" y="914400"/>
            <a:ext cx="4114800" cy="1234440"/>
          </a:xfrm>
          <a:prstGeom prst="rect">
            <a:avLst/>
          </a:prstGeom>
          <a:solidFill>
            <a:srgbClr val="F7FAFC"/>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79" y="987552"/>
            <a:ext cx="3931920" cy="274320"/>
          </a:xfrm>
          <a:prstGeom prst="rect">
            <a:avLst/>
          </a:prstGeom>
          <a:noFill/>
        </p:spPr>
        <p:txBody>
          <a:bodyPr wrap="square">
            <a:spAutoFit/>
          </a:bodyPr>
          <a:lstStyle/>
          <a:p>
            <a:pPr algn="l">
              <a:defRPr sz="1200" b="1">
                <a:solidFill>
                  <a:srgbClr val="1A365D"/>
                </a:solidFill>
              </a:defRPr>
            </a:pPr>
            <a:r>
              <a:t>① Step Interpreter</a:t>
            </a:r>
          </a:p>
        </p:txBody>
      </p:sp>
      <p:sp>
        <p:nvSpPr>
          <p:cNvPr id="9" name="TextBox 8"/>
          <p:cNvSpPr txBox="1"/>
          <p:nvPr/>
        </p:nvSpPr>
        <p:spPr>
          <a:xfrm>
            <a:off x="4754879" y="1234440"/>
            <a:ext cx="3931920" cy="201168"/>
          </a:xfrm>
          <a:prstGeom prst="rect">
            <a:avLst/>
          </a:prstGeom>
          <a:noFill/>
        </p:spPr>
        <p:txBody>
          <a:bodyPr wrap="square">
            <a:spAutoFit/>
          </a:bodyPr>
          <a:lstStyle/>
          <a:p>
            <a:pPr algn="l">
              <a:defRPr sz="900" b="0">
                <a:solidFill>
                  <a:srgbClr val="718096"/>
                </a:solidFill>
              </a:defRPr>
            </a:pPr>
            <a:r>
              <a:t>Agent 1 · StepProcessor</a:t>
            </a:r>
          </a:p>
        </p:txBody>
      </p:sp>
      <p:sp>
        <p:nvSpPr>
          <p:cNvPr id="10" name="TextBox 9"/>
          <p:cNvSpPr txBox="1"/>
          <p:nvPr/>
        </p:nvSpPr>
        <p:spPr>
          <a:xfrm>
            <a:off x="4754879" y="1417320"/>
            <a:ext cx="3931920" cy="640080"/>
          </a:xfrm>
          <a:prstGeom prst="rect">
            <a:avLst/>
          </a:prstGeom>
          <a:noFill/>
        </p:spPr>
        <p:txBody>
          <a:bodyPr wrap="square">
            <a:spAutoFit/>
          </a:bodyPr>
          <a:lstStyle/>
          <a:p>
            <a:pPr algn="l">
              <a:defRPr sz="1000" b="0">
                <a:solidFill>
                  <a:srgbClr val="2D3748"/>
                </a:solidFill>
              </a:defRPr>
            </a:pPr>
            <a:r>
              <a:t>Understands each step — screen, tab, edit vs view, app context.</a:t>
            </a:r>
          </a:p>
        </p:txBody>
      </p:sp>
      <p:sp>
        <p:nvSpPr>
          <p:cNvPr id="11" name="Rectangle 10"/>
          <p:cNvSpPr/>
          <p:nvPr/>
        </p:nvSpPr>
        <p:spPr>
          <a:xfrm>
            <a:off x="365760" y="2606040"/>
            <a:ext cx="4114800" cy="1234440"/>
          </a:xfrm>
          <a:prstGeom prst="rect">
            <a:avLst/>
          </a:prstGeom>
          <a:solidFill>
            <a:srgbClr val="F7FAFC"/>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679192"/>
            <a:ext cx="3931920" cy="274320"/>
          </a:xfrm>
          <a:prstGeom prst="rect">
            <a:avLst/>
          </a:prstGeom>
          <a:noFill/>
        </p:spPr>
        <p:txBody>
          <a:bodyPr wrap="square">
            <a:spAutoFit/>
          </a:bodyPr>
          <a:lstStyle/>
          <a:p>
            <a:pPr algn="l">
              <a:defRPr sz="1200" b="1">
                <a:solidFill>
                  <a:srgbClr val="1A365D"/>
                </a:solidFill>
              </a:defRPr>
            </a:pPr>
            <a:r>
              <a:t>② Code Mapper</a:t>
            </a:r>
          </a:p>
        </p:txBody>
      </p:sp>
      <p:sp>
        <p:nvSpPr>
          <p:cNvPr id="13" name="TextBox 12"/>
          <p:cNvSpPr txBox="1"/>
          <p:nvPr/>
        </p:nvSpPr>
        <p:spPr>
          <a:xfrm>
            <a:off x="457200" y="2926080"/>
            <a:ext cx="3931920" cy="201168"/>
          </a:xfrm>
          <a:prstGeom prst="rect">
            <a:avLst/>
          </a:prstGeom>
          <a:noFill/>
        </p:spPr>
        <p:txBody>
          <a:bodyPr wrap="square">
            <a:spAutoFit/>
          </a:bodyPr>
          <a:lstStyle/>
          <a:p>
            <a:pPr algn="l">
              <a:defRPr sz="900" b="0">
                <a:solidFill>
                  <a:srgbClr val="718096"/>
                </a:solidFill>
              </a:defRPr>
            </a:pPr>
            <a:r>
              <a:t>Agent 2 · POMMethodMatcher</a:t>
            </a:r>
          </a:p>
        </p:txBody>
      </p:sp>
      <p:sp>
        <p:nvSpPr>
          <p:cNvPr id="14" name="TextBox 13"/>
          <p:cNvSpPr txBox="1"/>
          <p:nvPr/>
        </p:nvSpPr>
        <p:spPr>
          <a:xfrm>
            <a:off x="457200" y="3108960"/>
            <a:ext cx="3931920" cy="640080"/>
          </a:xfrm>
          <a:prstGeom prst="rect">
            <a:avLst/>
          </a:prstGeom>
          <a:noFill/>
        </p:spPr>
        <p:txBody>
          <a:bodyPr wrap="square">
            <a:spAutoFit/>
          </a:bodyPr>
          <a:lstStyle/>
          <a:p>
            <a:pPr algn="l">
              <a:defRPr sz="1000" b="0">
                <a:solidFill>
                  <a:srgbClr val="2D3748"/>
                </a:solidFill>
              </a:defRPr>
            </a:pPr>
            <a:r>
              <a:t>Maps steps to automation using 130+ patterns and 5,900+ UI element IDs.</a:t>
            </a:r>
          </a:p>
        </p:txBody>
      </p:sp>
      <p:sp>
        <p:nvSpPr>
          <p:cNvPr id="15" name="Rectangle 14"/>
          <p:cNvSpPr/>
          <p:nvPr/>
        </p:nvSpPr>
        <p:spPr>
          <a:xfrm>
            <a:off x="4663440" y="2606040"/>
            <a:ext cx="4114800" cy="1234440"/>
          </a:xfrm>
          <a:prstGeom prst="rect">
            <a:avLst/>
          </a:prstGeom>
          <a:solidFill>
            <a:srgbClr val="F7FAFC"/>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79" y="2679192"/>
            <a:ext cx="3931920" cy="274320"/>
          </a:xfrm>
          <a:prstGeom prst="rect">
            <a:avLst/>
          </a:prstGeom>
          <a:noFill/>
        </p:spPr>
        <p:txBody>
          <a:bodyPr wrap="square">
            <a:spAutoFit/>
          </a:bodyPr>
          <a:lstStyle/>
          <a:p>
            <a:pPr algn="l">
              <a:defRPr sz="1200" b="1">
                <a:solidFill>
                  <a:srgbClr val="1A365D"/>
                </a:solidFill>
              </a:defRPr>
            </a:pPr>
            <a:r>
              <a:t>③ Quality Guardian</a:t>
            </a:r>
          </a:p>
        </p:txBody>
      </p:sp>
      <p:sp>
        <p:nvSpPr>
          <p:cNvPr id="17" name="TextBox 16"/>
          <p:cNvSpPr txBox="1"/>
          <p:nvPr/>
        </p:nvSpPr>
        <p:spPr>
          <a:xfrm>
            <a:off x="4754879" y="2926080"/>
            <a:ext cx="3931920" cy="201168"/>
          </a:xfrm>
          <a:prstGeom prst="rect">
            <a:avLst/>
          </a:prstGeom>
          <a:noFill/>
        </p:spPr>
        <p:txBody>
          <a:bodyPr wrap="square">
            <a:spAutoFit/>
          </a:bodyPr>
          <a:lstStyle/>
          <a:p>
            <a:pPr algn="l">
              <a:defRPr sz="900" b="0">
                <a:solidFill>
                  <a:srgbClr val="718096"/>
                </a:solidFill>
              </a:defRPr>
            </a:pPr>
            <a:r>
              <a:t>Agent 3 · SpecValidator</a:t>
            </a:r>
          </a:p>
        </p:txBody>
      </p:sp>
      <p:sp>
        <p:nvSpPr>
          <p:cNvPr id="18" name="TextBox 17"/>
          <p:cNvSpPr txBox="1"/>
          <p:nvPr/>
        </p:nvSpPr>
        <p:spPr>
          <a:xfrm>
            <a:off x="4754879" y="3108960"/>
            <a:ext cx="3931920" cy="640080"/>
          </a:xfrm>
          <a:prstGeom prst="rect">
            <a:avLst/>
          </a:prstGeom>
          <a:noFill/>
        </p:spPr>
        <p:txBody>
          <a:bodyPr wrap="square">
            <a:spAutoFit/>
          </a:bodyPr>
          <a:lstStyle/>
          <a:p>
            <a:pPr algn="l">
              <a:defRPr sz="1000" b="0">
                <a:solidFill>
                  <a:srgbClr val="2D3748"/>
                </a:solidFill>
              </a:defRPr>
            </a:pPr>
            <a:r>
              <a:t>Validates scripts, auto-fixes violations, up to 2 correction passes.</a:t>
            </a:r>
          </a:p>
        </p:txBody>
      </p:sp>
      <p:sp>
        <p:nvSpPr>
          <p:cNvPr id="19" name="Rectangle 18"/>
          <p:cNvSpPr/>
          <p:nvPr/>
        </p:nvSpPr>
        <p:spPr>
          <a:xfrm>
            <a:off x="2514600" y="4160520"/>
            <a:ext cx="4114800" cy="868680"/>
          </a:xfrm>
          <a:prstGeom prst="rect">
            <a:avLst/>
          </a:prstGeom>
          <a:solidFill>
            <a:srgbClr val="F7FAFC"/>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6040" y="4233672"/>
            <a:ext cx="3931920" cy="274320"/>
          </a:xfrm>
          <a:prstGeom prst="rect">
            <a:avLst/>
          </a:prstGeom>
          <a:noFill/>
        </p:spPr>
        <p:txBody>
          <a:bodyPr wrap="square">
            <a:spAutoFit/>
          </a:bodyPr>
          <a:lstStyle/>
          <a:p>
            <a:pPr algn="l">
              <a:defRPr sz="1200" b="1">
                <a:solidFill>
                  <a:srgbClr val="1A365D"/>
                </a:solidFill>
              </a:defRPr>
            </a:pPr>
            <a:r>
              <a:t>④ Coverage Ensurer</a:t>
            </a:r>
          </a:p>
        </p:txBody>
      </p:sp>
      <p:sp>
        <p:nvSpPr>
          <p:cNvPr id="21" name="TextBox 20"/>
          <p:cNvSpPr txBox="1"/>
          <p:nvPr/>
        </p:nvSpPr>
        <p:spPr>
          <a:xfrm>
            <a:off x="2606040" y="4480559"/>
            <a:ext cx="3931920" cy="201168"/>
          </a:xfrm>
          <a:prstGeom prst="rect">
            <a:avLst/>
          </a:prstGeom>
          <a:noFill/>
        </p:spPr>
        <p:txBody>
          <a:bodyPr wrap="square">
            <a:spAutoFit/>
          </a:bodyPr>
          <a:lstStyle/>
          <a:p>
            <a:pPr algn="l">
              <a:defRPr sz="900" b="0">
                <a:solidFill>
                  <a:srgbClr val="718096"/>
                </a:solidFill>
              </a:defRPr>
            </a:pPr>
            <a:r>
              <a:t>Agent 4 · SpecFeedbackLoop · 1 pass · up to 8 steps</a:t>
            </a:r>
          </a:p>
        </p:txBody>
      </p:sp>
      <p:sp>
        <p:nvSpPr>
          <p:cNvPr id="22" name="TextBox 21"/>
          <p:cNvSpPr txBox="1"/>
          <p:nvPr/>
        </p:nvSpPr>
        <p:spPr>
          <a:xfrm>
            <a:off x="2606040" y="4663440"/>
            <a:ext cx="3931920" cy="640080"/>
          </a:xfrm>
          <a:prstGeom prst="rect">
            <a:avLst/>
          </a:prstGeom>
          <a:noFill/>
        </p:spPr>
        <p:txBody>
          <a:bodyPr wrap="square">
            <a:spAutoFit/>
          </a:bodyPr>
          <a:lstStyle/>
          <a:p>
            <a:pPr algn="l">
              <a:defRPr sz="1000" b="0">
                <a:solidFill>
                  <a:srgbClr val="2D3748"/>
                </a:solidFill>
              </a:defRPr>
            </a:pPr>
            <a:r>
              <a:t>Compares script vs test case; fills missing steps; re-runs Quality Guardian if changed.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11480"/>
          </a:xfrm>
          <a:prstGeom prst="rect">
            <a:avLst/>
          </a:prstGeom>
          <a:noFill/>
        </p:spPr>
        <p:txBody>
          <a:bodyPr wrap="square">
            <a:spAutoFit/>
          </a:bodyPr>
          <a:lstStyle/>
          <a:p>
            <a:pPr algn="l">
              <a:defRPr sz="2400" b="1">
                <a:solidFill>
                  <a:srgbClr val="1A365D"/>
                </a:solidFill>
              </a:defRPr>
            </a:pPr>
            <a:r>
              <a:t>Key Metrics</a:t>
            </a:r>
          </a:p>
        </p:txBody>
      </p:sp>
      <p:sp>
        <p:nvSpPr>
          <p:cNvPr id="3" name="Rectangle 2"/>
          <p:cNvSpPr/>
          <p:nvPr/>
        </p:nvSpPr>
        <p:spPr>
          <a:xfrm>
            <a:off x="502920" y="1371600"/>
            <a:ext cx="1874519" cy="1371600"/>
          </a:xfrm>
          <a:prstGeom prst="rect">
            <a:avLst/>
          </a:prstGeom>
          <a:solidFill>
            <a:srgbClr val="FFFFFF"/>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554480"/>
            <a:ext cx="1874519" cy="457200"/>
          </a:xfrm>
          <a:prstGeom prst="rect">
            <a:avLst/>
          </a:prstGeom>
          <a:noFill/>
        </p:spPr>
        <p:txBody>
          <a:bodyPr wrap="square">
            <a:spAutoFit/>
          </a:bodyPr>
          <a:lstStyle/>
          <a:p>
            <a:pPr algn="ctr">
              <a:defRPr sz="2800" b="1">
                <a:solidFill>
                  <a:srgbClr val="1A365D"/>
                </a:solidFill>
              </a:defRPr>
            </a:pPr>
            <a:r>
              <a:t>24</a:t>
            </a:r>
          </a:p>
        </p:txBody>
      </p:sp>
      <p:sp>
        <p:nvSpPr>
          <p:cNvPr id="5" name="TextBox 4"/>
          <p:cNvSpPr txBox="1"/>
          <p:nvPr/>
        </p:nvSpPr>
        <p:spPr>
          <a:xfrm>
            <a:off x="594360" y="2103120"/>
            <a:ext cx="1691640" cy="548640"/>
          </a:xfrm>
          <a:prstGeom prst="rect">
            <a:avLst/>
          </a:prstGeom>
          <a:noFill/>
        </p:spPr>
        <p:txBody>
          <a:bodyPr wrap="square">
            <a:spAutoFit/>
          </a:bodyPr>
          <a:lstStyle/>
          <a:p>
            <a:pPr algn="ctr">
              <a:defRPr sz="1000" b="0">
                <a:solidFill>
                  <a:srgbClr val="718096"/>
                </a:solidFill>
              </a:defRPr>
            </a:pPr>
            <a:r>
              <a:t>Billing toggle scripts generated</a:t>
            </a:r>
          </a:p>
        </p:txBody>
      </p:sp>
      <p:sp>
        <p:nvSpPr>
          <p:cNvPr id="6" name="Rectangle 5"/>
          <p:cNvSpPr/>
          <p:nvPr/>
        </p:nvSpPr>
        <p:spPr>
          <a:xfrm>
            <a:off x="2560320" y="1371600"/>
            <a:ext cx="1874519" cy="1371600"/>
          </a:xfrm>
          <a:prstGeom prst="rect">
            <a:avLst/>
          </a:prstGeom>
          <a:solidFill>
            <a:srgbClr val="FFFFFF"/>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0" y="1554480"/>
            <a:ext cx="1874519" cy="457200"/>
          </a:xfrm>
          <a:prstGeom prst="rect">
            <a:avLst/>
          </a:prstGeom>
          <a:noFill/>
        </p:spPr>
        <p:txBody>
          <a:bodyPr wrap="square">
            <a:spAutoFit/>
          </a:bodyPr>
          <a:lstStyle/>
          <a:p>
            <a:pPr algn="ctr">
              <a:defRPr sz="2800" b="1">
                <a:solidFill>
                  <a:srgbClr val="1A365D"/>
                </a:solidFill>
              </a:defRPr>
            </a:pPr>
            <a:r>
              <a:t>4</a:t>
            </a:r>
          </a:p>
        </p:txBody>
      </p:sp>
      <p:sp>
        <p:nvSpPr>
          <p:cNvPr id="8" name="TextBox 7"/>
          <p:cNvSpPr txBox="1"/>
          <p:nvPr/>
        </p:nvSpPr>
        <p:spPr>
          <a:xfrm>
            <a:off x="2651760" y="2103120"/>
            <a:ext cx="1691640" cy="548640"/>
          </a:xfrm>
          <a:prstGeom prst="rect">
            <a:avLst/>
          </a:prstGeom>
          <a:noFill/>
        </p:spPr>
        <p:txBody>
          <a:bodyPr wrap="square">
            <a:spAutoFit/>
          </a:bodyPr>
          <a:lstStyle/>
          <a:p>
            <a:pPr algn="ctr">
              <a:defRPr sz="1000" b="0">
                <a:solidFill>
                  <a:srgbClr val="718096"/>
                </a:solidFill>
              </a:defRPr>
            </a:pPr>
            <a:r>
              <a:t>DFB scripts generated</a:t>
            </a:r>
          </a:p>
        </p:txBody>
      </p:sp>
      <p:sp>
        <p:nvSpPr>
          <p:cNvPr id="9" name="Rectangle 8"/>
          <p:cNvSpPr/>
          <p:nvPr/>
        </p:nvSpPr>
        <p:spPr>
          <a:xfrm>
            <a:off x="4617720" y="1371600"/>
            <a:ext cx="1874519" cy="1371600"/>
          </a:xfrm>
          <a:prstGeom prst="rect">
            <a:avLst/>
          </a:prstGeom>
          <a:solidFill>
            <a:srgbClr val="FFFFFF"/>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554480"/>
            <a:ext cx="1874519" cy="457200"/>
          </a:xfrm>
          <a:prstGeom prst="rect">
            <a:avLst/>
          </a:prstGeom>
          <a:noFill/>
        </p:spPr>
        <p:txBody>
          <a:bodyPr wrap="square">
            <a:spAutoFit/>
          </a:bodyPr>
          <a:lstStyle/>
          <a:p>
            <a:pPr algn="ctr">
              <a:defRPr sz="2800" b="1">
                <a:solidFill>
                  <a:srgbClr val="1A365D"/>
                </a:solidFill>
              </a:defRPr>
            </a:pPr>
            <a:r>
              <a:t>5,900+</a:t>
            </a:r>
          </a:p>
        </p:txBody>
      </p:sp>
      <p:sp>
        <p:nvSpPr>
          <p:cNvPr id="11" name="TextBox 10"/>
          <p:cNvSpPr txBox="1"/>
          <p:nvPr/>
        </p:nvSpPr>
        <p:spPr>
          <a:xfrm>
            <a:off x="4709159" y="2103120"/>
            <a:ext cx="1691640" cy="548640"/>
          </a:xfrm>
          <a:prstGeom prst="rect">
            <a:avLst/>
          </a:prstGeom>
          <a:noFill/>
        </p:spPr>
        <p:txBody>
          <a:bodyPr wrap="square">
            <a:spAutoFit/>
          </a:bodyPr>
          <a:lstStyle/>
          <a:p>
            <a:pPr algn="ctr">
              <a:defRPr sz="1000" b="0">
                <a:solidFill>
                  <a:srgbClr val="718096"/>
                </a:solidFill>
              </a:defRPr>
            </a:pPr>
            <a:r>
              <a:t>UI elements indexed</a:t>
            </a:r>
          </a:p>
        </p:txBody>
      </p:sp>
      <p:sp>
        <p:nvSpPr>
          <p:cNvPr id="12" name="Rectangle 11"/>
          <p:cNvSpPr/>
          <p:nvPr/>
        </p:nvSpPr>
        <p:spPr>
          <a:xfrm>
            <a:off x="6675120" y="1371600"/>
            <a:ext cx="1874519" cy="1371600"/>
          </a:xfrm>
          <a:prstGeom prst="rect">
            <a:avLst/>
          </a:prstGeom>
          <a:solidFill>
            <a:srgbClr val="FFFFFF"/>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554480"/>
            <a:ext cx="1874519" cy="457200"/>
          </a:xfrm>
          <a:prstGeom prst="rect">
            <a:avLst/>
          </a:prstGeom>
          <a:noFill/>
        </p:spPr>
        <p:txBody>
          <a:bodyPr wrap="square">
            <a:spAutoFit/>
          </a:bodyPr>
          <a:lstStyle/>
          <a:p>
            <a:pPr algn="ctr">
              <a:defRPr sz="2800" b="1">
                <a:solidFill>
                  <a:srgbClr val="1A365D"/>
                </a:solidFill>
              </a:defRPr>
            </a:pPr>
            <a:r>
              <a:t>25+</a:t>
            </a:r>
          </a:p>
        </p:txBody>
      </p:sp>
      <p:sp>
        <p:nvSpPr>
          <p:cNvPr id="14" name="TextBox 13"/>
          <p:cNvSpPr txBox="1"/>
          <p:nvPr/>
        </p:nvSpPr>
        <p:spPr>
          <a:xfrm>
            <a:off x="6766559" y="2103120"/>
            <a:ext cx="1691640" cy="548640"/>
          </a:xfrm>
          <a:prstGeom prst="rect">
            <a:avLst/>
          </a:prstGeom>
          <a:noFill/>
        </p:spPr>
        <p:txBody>
          <a:bodyPr wrap="square">
            <a:spAutoFit/>
          </a:bodyPr>
          <a:lstStyle/>
          <a:p>
            <a:pPr algn="ctr">
              <a:defRPr sz="1000" b="0">
                <a:solidFill>
                  <a:srgbClr val="718096"/>
                </a:solidFill>
              </a:defRPr>
            </a:pPr>
            <a:r>
              <a:t>Auto-fix quality rules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8229600" cy="365760"/>
          </a:xfrm>
          <a:prstGeom prst="rect">
            <a:avLst/>
          </a:prstGeom>
          <a:noFill/>
        </p:spPr>
        <p:txBody>
          <a:bodyPr wrap="square">
            <a:spAutoFit/>
          </a:bodyPr>
          <a:lstStyle/>
          <a:p>
            <a:pPr algn="l">
              <a:defRPr sz="2000" b="1">
                <a:solidFill>
                  <a:srgbClr val="1A365D"/>
                </a:solidFill>
              </a:defRPr>
            </a:pPr>
            <a:r>
              <a:rPr dirty="0"/>
              <a:t>End-to-End Pipeline — How a Test Case Becomes a Script</a:t>
            </a:r>
          </a:p>
        </p:txBody>
      </p:sp>
      <p:pic>
        <p:nvPicPr>
          <p:cNvPr id="3" name="Picture 2" descr="agentic-pipeline-diagram.png"/>
          <p:cNvPicPr>
            <a:picLocks noChangeAspect="1"/>
          </p:cNvPicPr>
          <p:nvPr/>
        </p:nvPicPr>
        <p:blipFill>
          <a:blip r:embed="rId2"/>
          <a:stretch>
            <a:fillRect/>
          </a:stretch>
        </p:blipFill>
        <p:spPr>
          <a:xfrm>
            <a:off x="320040" y="594360"/>
            <a:ext cx="8569578" cy="67485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1A365D"/>
                </a:solidFill>
              </a:defRPr>
            </a:pPr>
            <a:r>
              <a:t>✦ AI Script Writer — Four Claude Calls</a:t>
            </a:r>
          </a:p>
        </p:txBody>
      </p:sp>
      <p:graphicFrame>
        <p:nvGraphicFramePr>
          <p:cNvPr id="3" name="Table 2"/>
          <p:cNvGraphicFramePr>
            <a:graphicFrameLocks noGrp="1"/>
          </p:cNvGraphicFramePr>
          <p:nvPr>
            <p:extLst>
              <p:ext uri="{D42A27DB-BD31-4B8C-83A1-F6EECF244321}">
                <p14:modId xmlns:p14="http://schemas.microsoft.com/office/powerpoint/2010/main" val="3691224316"/>
              </p:ext>
            </p:extLst>
          </p:nvPr>
        </p:nvGraphicFramePr>
        <p:xfrm>
          <a:off x="320040" y="822960"/>
          <a:ext cx="8503920" cy="4134050"/>
        </p:xfrm>
        <a:graphic>
          <a:graphicData uri="http://schemas.openxmlformats.org/drawingml/2006/table">
            <a:tbl>
              <a:tblPr firstRow="1" bandRow="1">
                <a:tableStyleId>{5C22544A-7EE6-4342-B048-85BDC9FD1C3A}</a:tableStyleId>
              </a:tblPr>
              <a:tblGrid>
                <a:gridCol w="17007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tblGrid>
              <a:tr h="826810">
                <a:tc>
                  <a:txBody>
                    <a:bodyPr/>
                    <a:lstStyle/>
                    <a:p>
                      <a:pPr>
                        <a:defRPr sz="900" b="1">
                          <a:solidFill>
                            <a:srgbClr val="FFFFFF"/>
                          </a:solidFill>
                        </a:defRPr>
                      </a:pPr>
                      <a:r>
                        <a:rPr dirty="0"/>
                        <a:t>Call</a:t>
                      </a:r>
                    </a:p>
                  </a:txBody>
                  <a:tcPr>
                    <a:solidFill>
                      <a:srgbClr val="1A365D"/>
                    </a:solidFill>
                  </a:tcPr>
                </a:tc>
                <a:tc>
                  <a:txBody>
                    <a:bodyPr/>
                    <a:lstStyle/>
                    <a:p>
                      <a:pPr>
                        <a:defRPr sz="900" b="1">
                          <a:solidFill>
                            <a:srgbClr val="FFFFFF"/>
                          </a:solidFill>
                        </a:defRPr>
                      </a:pPr>
                      <a:r>
                        <a:t>Name</a:t>
                      </a:r>
                    </a:p>
                  </a:txBody>
                  <a:tcPr>
                    <a:solidFill>
                      <a:srgbClr val="1A365D"/>
                    </a:solidFill>
                  </a:tcPr>
                </a:tc>
                <a:tc>
                  <a:txBody>
                    <a:bodyPr/>
                    <a:lstStyle/>
                    <a:p>
                      <a:pPr>
                        <a:defRPr sz="900" b="1">
                          <a:solidFill>
                            <a:srgbClr val="FFFFFF"/>
                          </a:solidFill>
                        </a:defRPr>
                      </a:pPr>
                      <a:r>
                        <a:t>What It Does</a:t>
                      </a:r>
                    </a:p>
                  </a:txBody>
                  <a:tcPr>
                    <a:solidFill>
                      <a:srgbClr val="1A365D"/>
                    </a:solidFill>
                  </a:tcPr>
                </a:tc>
                <a:tc>
                  <a:txBody>
                    <a:bodyPr/>
                    <a:lstStyle/>
                    <a:p>
                      <a:pPr>
                        <a:defRPr sz="900" b="1">
                          <a:solidFill>
                            <a:srgbClr val="FFFFFF"/>
                          </a:solidFill>
                        </a:defRPr>
                      </a:pPr>
                      <a:r>
                        <a:t>When</a:t>
                      </a:r>
                    </a:p>
                  </a:txBody>
                  <a:tcPr>
                    <a:solidFill>
                      <a:srgbClr val="1A365D"/>
                    </a:solidFill>
                  </a:tcPr>
                </a:tc>
                <a:tc>
                  <a:txBody>
                    <a:bodyPr/>
                    <a:lstStyle/>
                    <a:p>
                      <a:pPr>
                        <a:defRPr sz="900" b="1">
                          <a:solidFill>
                            <a:srgbClr val="FFFFFF"/>
                          </a:solidFill>
                        </a:defRPr>
                      </a:pPr>
                      <a:r>
                        <a:t>If Fails</a:t>
                      </a:r>
                    </a:p>
                  </a:txBody>
                  <a:tcPr>
                    <a:solidFill>
                      <a:srgbClr val="1A365D"/>
                    </a:solidFill>
                  </a:tcPr>
                </a:tc>
                <a:extLst>
                  <a:ext uri="{0D108BD9-81ED-4DB2-BD59-A6C34878D82A}">
                    <a16:rowId xmlns:a16="http://schemas.microsoft.com/office/drawing/2014/main" val="10000"/>
                  </a:ext>
                </a:extLst>
              </a:tr>
              <a:tr h="826810">
                <a:tc>
                  <a:txBody>
                    <a:bodyPr/>
                    <a:lstStyle/>
                    <a:p>
                      <a:pPr>
                        <a:defRPr sz="900">
                          <a:solidFill>
                            <a:srgbClr val="2D3748"/>
                          </a:solidFill>
                        </a:defRPr>
                      </a:pPr>
                      <a:r>
                        <a:t>1</a:t>
                      </a:r>
                    </a:p>
                  </a:txBody>
                  <a:tcPr/>
                </a:tc>
                <a:tc>
                  <a:txBody>
                    <a:bodyPr/>
                    <a:lstStyle/>
                    <a:p>
                      <a:pPr>
                        <a:defRPr sz="900">
                          <a:solidFill>
                            <a:srgbClr val="2D3748"/>
                          </a:solidFill>
                        </a:defRPr>
                      </a:pPr>
                      <a:r>
                        <a:t>Data Enricher</a:t>
                      </a:r>
                    </a:p>
                  </a:txBody>
                  <a:tcPr/>
                </a:tc>
                <a:tc>
                  <a:txBody>
                    <a:bodyPr/>
                    <a:lstStyle/>
                    <a:p>
                      <a:pPr>
                        <a:defRPr sz="900">
                          <a:solidFill>
                            <a:srgbClr val="2D3748"/>
                          </a:solidFill>
                        </a:defRPr>
                      </a:pPr>
                      <a:r>
                        <a:t>Fills missing test data fields</a:t>
                      </a:r>
                    </a:p>
                  </a:txBody>
                  <a:tcPr/>
                </a:tc>
                <a:tc>
                  <a:txBody>
                    <a:bodyPr/>
                    <a:lstStyle/>
                    <a:p>
                      <a:pPr>
                        <a:defRPr sz="900">
                          <a:solidFill>
                            <a:srgbClr val="2D3748"/>
                          </a:solidFill>
                        </a:defRPr>
                      </a:pPr>
                      <a:r>
                        <a:t>Before generation when data incomplete</a:t>
                      </a:r>
                    </a:p>
                  </a:txBody>
                  <a:tcPr/>
                </a:tc>
                <a:tc>
                  <a:txBody>
                    <a:bodyPr/>
                    <a:lstStyle/>
                    <a:p>
                      <a:pPr>
                        <a:defRPr sz="900">
                          <a:solidFill>
                            <a:srgbClr val="2D3748"/>
                          </a:solidFill>
                        </a:defRPr>
                      </a:pPr>
                      <a:r>
                        <a:t>Continues with partial data</a:t>
                      </a:r>
                    </a:p>
                  </a:txBody>
                  <a:tcPr/>
                </a:tc>
                <a:extLst>
                  <a:ext uri="{0D108BD9-81ED-4DB2-BD59-A6C34878D82A}">
                    <a16:rowId xmlns:a16="http://schemas.microsoft.com/office/drawing/2014/main" val="10001"/>
                  </a:ext>
                </a:extLst>
              </a:tr>
              <a:tr h="826810">
                <a:tc>
                  <a:txBody>
                    <a:bodyPr/>
                    <a:lstStyle/>
                    <a:p>
                      <a:pPr>
                        <a:defRPr sz="900">
                          <a:solidFill>
                            <a:srgbClr val="2D3748"/>
                          </a:solidFill>
                        </a:defRPr>
                      </a:pPr>
                      <a:r>
                        <a:t>2</a:t>
                      </a:r>
                    </a:p>
                  </a:txBody>
                  <a:tcPr>
                    <a:solidFill>
                      <a:srgbClr val="FFFBEB"/>
                    </a:solidFill>
                  </a:tcPr>
                </a:tc>
                <a:tc>
                  <a:txBody>
                    <a:bodyPr/>
                    <a:lstStyle/>
                    <a:p>
                      <a:pPr>
                        <a:defRPr sz="900">
                          <a:solidFill>
                            <a:srgbClr val="2D3748"/>
                          </a:solidFill>
                        </a:defRPr>
                      </a:pPr>
                      <a:r>
                        <a:t>Full Script Writer</a:t>
                      </a:r>
                    </a:p>
                  </a:txBody>
                  <a:tcPr>
                    <a:solidFill>
                      <a:srgbClr val="FFFBEB"/>
                    </a:solidFill>
                  </a:tcPr>
                </a:tc>
                <a:tc>
                  <a:txBody>
                    <a:bodyPr/>
                    <a:lstStyle/>
                    <a:p>
                      <a:pPr>
                        <a:defRPr sz="900">
                          <a:solidFill>
                            <a:srgbClr val="2D3748"/>
                          </a:solidFill>
                        </a:defRPr>
                      </a:pPr>
                      <a:r>
                        <a:t>Writes entire script using reference template</a:t>
                      </a:r>
                    </a:p>
                  </a:txBody>
                  <a:tcPr>
                    <a:solidFill>
                      <a:srgbClr val="FFFBEB"/>
                    </a:solidFill>
                  </a:tcPr>
                </a:tc>
                <a:tc>
                  <a:txBody>
                    <a:bodyPr/>
                    <a:lstStyle/>
                    <a:p>
                      <a:pPr>
                        <a:defRPr sz="900">
                          <a:solidFill>
                            <a:srgbClr val="2D3748"/>
                          </a:solidFill>
                        </a:defRPr>
                      </a:pPr>
                      <a:r>
                        <a:t>First attempt (≤40 steps, reference exists)</a:t>
                      </a:r>
                    </a:p>
                  </a:txBody>
                  <a:tcPr>
                    <a:solidFill>
                      <a:srgbClr val="FFFBEB"/>
                    </a:solidFill>
                  </a:tcPr>
                </a:tc>
                <a:tc>
                  <a:txBody>
                    <a:bodyPr/>
                    <a:lstStyle/>
                    <a:p>
                      <a:pPr>
                        <a:defRPr sz="900">
                          <a:solidFill>
                            <a:srgbClr val="2D3748"/>
                          </a:solidFill>
                        </a:defRPr>
                      </a:pPr>
                      <a:r>
                        <a:t>Falls back to Call 3 or rules</a:t>
                      </a:r>
                    </a:p>
                  </a:txBody>
                  <a:tcPr>
                    <a:solidFill>
                      <a:srgbClr val="FFFBEB"/>
                    </a:solidFill>
                  </a:tcPr>
                </a:tc>
                <a:extLst>
                  <a:ext uri="{0D108BD9-81ED-4DB2-BD59-A6C34878D82A}">
                    <a16:rowId xmlns:a16="http://schemas.microsoft.com/office/drawing/2014/main" val="10002"/>
                  </a:ext>
                </a:extLst>
              </a:tr>
              <a:tr h="826810">
                <a:tc>
                  <a:txBody>
                    <a:bodyPr/>
                    <a:lstStyle/>
                    <a:p>
                      <a:pPr>
                        <a:defRPr sz="900">
                          <a:solidFill>
                            <a:srgbClr val="2D3748"/>
                          </a:solidFill>
                        </a:defRPr>
                      </a:pPr>
                      <a:r>
                        <a:t>3</a:t>
                      </a:r>
                    </a:p>
                  </a:txBody>
                  <a:tcPr/>
                </a:tc>
                <a:tc>
                  <a:txBody>
                    <a:bodyPr/>
                    <a:lstStyle/>
                    <a:p>
                      <a:pPr>
                        <a:defRPr sz="900">
                          <a:solidFill>
                            <a:srgbClr val="2D3748"/>
                          </a:solidFill>
                        </a:defRPr>
                      </a:pPr>
                      <a:r>
                        <a:t>Smart Adapter</a:t>
                      </a:r>
                    </a:p>
                  </a:txBody>
                  <a:tcPr/>
                </a:tc>
                <a:tc>
                  <a:txBody>
                    <a:bodyPr/>
                    <a:lstStyle/>
                    <a:p>
                      <a:pPr>
                        <a:defRPr sz="900">
                          <a:solidFill>
                            <a:srgbClr val="2D3748"/>
                          </a:solidFill>
                        </a:defRPr>
                      </a:pPr>
                      <a:r>
                        <a:t>Clones reference; rewrites differing steps</a:t>
                      </a:r>
                    </a:p>
                  </a:txBody>
                  <a:tcPr/>
                </a:tc>
                <a:tc>
                  <a:txBody>
                    <a:bodyPr/>
                    <a:lstStyle/>
                    <a:p>
                      <a:pPr>
                        <a:defRPr sz="900">
                          <a:solidFill>
                            <a:srgbClr val="2D3748"/>
                          </a:solidFill>
                        </a:defRPr>
                      </a:pPr>
                      <a:r>
                        <a:t>When ≥70% similar to existing test</a:t>
                      </a:r>
                    </a:p>
                  </a:txBody>
                  <a:tcPr/>
                </a:tc>
                <a:tc>
                  <a:txBody>
                    <a:bodyPr/>
                    <a:lstStyle/>
                    <a:p>
                      <a:pPr>
                        <a:defRPr sz="900">
                          <a:solidFill>
                            <a:srgbClr val="2D3748"/>
                          </a:solidFill>
                        </a:defRPr>
                      </a:pPr>
                      <a:r>
                        <a:t>Keeps reference or Call 4</a:t>
                      </a:r>
                    </a:p>
                  </a:txBody>
                  <a:tcPr/>
                </a:tc>
                <a:extLst>
                  <a:ext uri="{0D108BD9-81ED-4DB2-BD59-A6C34878D82A}">
                    <a16:rowId xmlns:a16="http://schemas.microsoft.com/office/drawing/2014/main" val="10003"/>
                  </a:ext>
                </a:extLst>
              </a:tr>
              <a:tr h="826810">
                <a:tc>
                  <a:txBody>
                    <a:bodyPr/>
                    <a:lstStyle/>
                    <a:p>
                      <a:pPr>
                        <a:defRPr sz="900">
                          <a:solidFill>
                            <a:srgbClr val="2D3748"/>
                          </a:solidFill>
                        </a:defRPr>
                      </a:pPr>
                      <a:r>
                        <a:t>4</a:t>
                      </a:r>
                    </a:p>
                  </a:txBody>
                  <a:tcPr>
                    <a:solidFill>
                      <a:srgbClr val="FFFBEB"/>
                    </a:solidFill>
                  </a:tcPr>
                </a:tc>
                <a:tc>
                  <a:txBody>
                    <a:bodyPr/>
                    <a:lstStyle/>
                    <a:p>
                      <a:pPr>
                        <a:defRPr sz="900">
                          <a:solidFill>
                            <a:srgbClr val="2D3748"/>
                          </a:solidFill>
                        </a:defRPr>
                      </a:pPr>
                      <a:r>
                        <a:t>Step Writer</a:t>
                      </a:r>
                    </a:p>
                  </a:txBody>
                  <a:tcPr>
                    <a:solidFill>
                      <a:srgbClr val="FFFBEB"/>
                    </a:solidFill>
                  </a:tcPr>
                </a:tc>
                <a:tc>
                  <a:txBody>
                    <a:bodyPr/>
                    <a:lstStyle/>
                    <a:p>
                      <a:pPr>
                        <a:defRPr sz="900">
                          <a:solidFill>
                            <a:srgbClr val="2D3748"/>
                          </a:solidFill>
                        </a:defRPr>
                      </a:pPr>
                      <a:r>
                        <a:t>Writes code for unmatched individual steps</a:t>
                      </a:r>
                    </a:p>
                  </a:txBody>
                  <a:tcPr>
                    <a:solidFill>
                      <a:srgbClr val="FFFBEB"/>
                    </a:solidFill>
                  </a:tcPr>
                </a:tc>
                <a:tc>
                  <a:txBody>
                    <a:bodyPr/>
                    <a:lstStyle/>
                    <a:p>
                      <a:pPr>
                        <a:defRPr sz="900">
                          <a:solidFill>
                            <a:srgbClr val="2D3748"/>
                          </a:solidFill>
                        </a:defRPr>
                      </a:pPr>
                      <a:r>
                        <a:t>Last resort after rules fail</a:t>
                      </a:r>
                    </a:p>
                  </a:txBody>
                  <a:tcPr>
                    <a:solidFill>
                      <a:srgbClr val="FFFBEB"/>
                    </a:solidFill>
                  </a:tcPr>
                </a:tc>
                <a:tc>
                  <a:txBody>
                    <a:bodyPr/>
                    <a:lstStyle/>
                    <a:p>
                      <a:pPr>
                        <a:defRPr sz="900">
                          <a:solidFill>
                            <a:srgbClr val="2D3748"/>
                          </a:solidFill>
                        </a:defRPr>
                      </a:pPr>
                      <a:r>
                        <a:rPr dirty="0"/>
                        <a:t>Placeholder for manual completion</a:t>
                      </a:r>
                    </a:p>
                  </a:txBody>
                  <a:tcPr>
                    <a:solidFill>
                      <a:srgbClr val="FFFBE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1A365D"/>
                </a:solidFill>
              </a:defRPr>
            </a:pPr>
            <a:r>
              <a:t>Agent Roster — Business Names &amp; Responsibilities</a:t>
            </a:r>
          </a:p>
        </p:txBody>
      </p:sp>
      <p:graphicFrame>
        <p:nvGraphicFramePr>
          <p:cNvPr id="3" name="Table 2"/>
          <p:cNvGraphicFramePr>
            <a:graphicFrameLocks noGrp="1"/>
          </p:cNvGraphicFramePr>
          <p:nvPr>
            <p:extLst>
              <p:ext uri="{D42A27DB-BD31-4B8C-83A1-F6EECF244321}">
                <p14:modId xmlns:p14="http://schemas.microsoft.com/office/powerpoint/2010/main" val="2717063299"/>
              </p:ext>
            </p:extLst>
          </p:nvPr>
        </p:nvGraphicFramePr>
        <p:xfrm>
          <a:off x="320040" y="822960"/>
          <a:ext cx="8503920" cy="4120302"/>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686717">
                <a:tc>
                  <a:txBody>
                    <a:bodyPr/>
                    <a:lstStyle/>
                    <a:p>
                      <a:pPr>
                        <a:defRPr sz="800" b="1">
                          <a:solidFill>
                            <a:srgbClr val="FFFFFF"/>
                          </a:solidFill>
                        </a:defRPr>
                      </a:pPr>
                      <a:r>
                        <a:t>Business Name</a:t>
                      </a:r>
                    </a:p>
                  </a:txBody>
                  <a:tcPr>
                    <a:solidFill>
                      <a:srgbClr val="1A365D"/>
                    </a:solidFill>
                  </a:tcPr>
                </a:tc>
                <a:tc>
                  <a:txBody>
                    <a:bodyPr/>
                    <a:lstStyle/>
                    <a:p>
                      <a:pPr>
                        <a:defRPr sz="800" b="1">
                          <a:solidFill>
                            <a:srgbClr val="FFFFFF"/>
                          </a:solidFill>
                        </a:defRPr>
                      </a:pPr>
                      <a:r>
                        <a:t>Component</a:t>
                      </a:r>
                    </a:p>
                  </a:txBody>
                  <a:tcPr>
                    <a:solidFill>
                      <a:srgbClr val="1A365D"/>
                    </a:solidFill>
                  </a:tcPr>
                </a:tc>
                <a:tc>
                  <a:txBody>
                    <a:bodyPr/>
                    <a:lstStyle/>
                    <a:p>
                      <a:pPr>
                        <a:defRPr sz="800" b="1">
                          <a:solidFill>
                            <a:srgbClr val="FFFFFF"/>
                          </a:solidFill>
                        </a:defRPr>
                      </a:pPr>
                      <a:r>
                        <a:t>Role</a:t>
                      </a:r>
                    </a:p>
                  </a:txBody>
                  <a:tcPr>
                    <a:solidFill>
                      <a:srgbClr val="1A365D"/>
                    </a:solidFill>
                  </a:tcPr>
                </a:tc>
                <a:tc>
                  <a:txBody>
                    <a:bodyPr/>
                    <a:lstStyle/>
                    <a:p>
                      <a:pPr>
                        <a:defRPr sz="800" b="1">
                          <a:solidFill>
                            <a:srgbClr val="FFFFFF"/>
                          </a:solidFill>
                        </a:defRPr>
                      </a:pPr>
                      <a:r>
                        <a:t>Output / Loops</a:t>
                      </a:r>
                    </a:p>
                  </a:txBody>
                  <a:tcPr>
                    <a:solidFill>
                      <a:srgbClr val="1A365D"/>
                    </a:solidFill>
                  </a:tcPr>
                </a:tc>
                <a:extLst>
                  <a:ext uri="{0D108BD9-81ED-4DB2-BD59-A6C34878D82A}">
                    <a16:rowId xmlns:a16="http://schemas.microsoft.com/office/drawing/2014/main" val="10000"/>
                  </a:ext>
                </a:extLst>
              </a:tr>
              <a:tr h="686717">
                <a:tc>
                  <a:txBody>
                    <a:bodyPr/>
                    <a:lstStyle/>
                    <a:p>
                      <a:pPr>
                        <a:defRPr sz="800">
                          <a:solidFill>
                            <a:srgbClr val="2D3748"/>
                          </a:solidFill>
                        </a:defRPr>
                      </a:pPr>
                      <a:r>
                        <a:t>AI Script Writer</a:t>
                      </a:r>
                    </a:p>
                  </a:txBody>
                  <a:tcPr/>
                </a:tc>
                <a:tc>
                  <a:txBody>
                    <a:bodyPr/>
                    <a:lstStyle/>
                    <a:p>
                      <a:pPr>
                        <a:defRPr sz="800">
                          <a:solidFill>
                            <a:srgbClr val="2D3748"/>
                          </a:solidFill>
                        </a:defRPr>
                      </a:pPr>
                      <a:r>
                        <a:t>LLMService</a:t>
                      </a:r>
                    </a:p>
                  </a:txBody>
                  <a:tcPr/>
                </a:tc>
                <a:tc>
                  <a:txBody>
                    <a:bodyPr/>
                    <a:lstStyle/>
                    <a:p>
                      <a:pPr>
                        <a:defRPr sz="800">
                          <a:solidFill>
                            <a:srgbClr val="2D3748"/>
                          </a:solidFill>
                        </a:defRPr>
                      </a:pPr>
                      <a:r>
                        <a:t>4 Claude calls for data &amp; script generation</a:t>
                      </a:r>
                    </a:p>
                  </a:txBody>
                  <a:tcPr/>
                </a:tc>
                <a:tc>
                  <a:txBody>
                    <a:bodyPr/>
                    <a:lstStyle/>
                    <a:p>
                      <a:pPr>
                        <a:defRPr sz="800">
                          <a:solidFill>
                            <a:srgbClr val="2D3748"/>
                          </a:solidFill>
                        </a:defRPr>
                      </a:pPr>
                      <a:r>
                        <a:t>Code → Script Assembler</a:t>
                      </a:r>
                    </a:p>
                  </a:txBody>
                  <a:tcPr/>
                </a:tc>
                <a:extLst>
                  <a:ext uri="{0D108BD9-81ED-4DB2-BD59-A6C34878D82A}">
                    <a16:rowId xmlns:a16="http://schemas.microsoft.com/office/drawing/2014/main" val="10001"/>
                  </a:ext>
                </a:extLst>
              </a:tr>
              <a:tr h="686717">
                <a:tc>
                  <a:txBody>
                    <a:bodyPr/>
                    <a:lstStyle/>
                    <a:p>
                      <a:pPr>
                        <a:defRPr sz="800">
                          <a:solidFill>
                            <a:srgbClr val="2D3748"/>
                          </a:solidFill>
                        </a:defRPr>
                      </a:pPr>
                      <a:r>
                        <a:rPr dirty="0"/>
                        <a:t>Step Interpreter</a:t>
                      </a:r>
                    </a:p>
                  </a:txBody>
                  <a:tcPr>
                    <a:solidFill>
                      <a:srgbClr val="FFFBEB"/>
                    </a:solidFill>
                  </a:tcPr>
                </a:tc>
                <a:tc>
                  <a:txBody>
                    <a:bodyPr/>
                    <a:lstStyle/>
                    <a:p>
                      <a:pPr>
                        <a:defRPr sz="800">
                          <a:solidFill>
                            <a:srgbClr val="2D3748"/>
                          </a:solidFill>
                        </a:defRPr>
                      </a:pPr>
                      <a:r>
                        <a:t>Agent 1</a:t>
                      </a:r>
                    </a:p>
                  </a:txBody>
                  <a:tcPr>
                    <a:solidFill>
                      <a:srgbClr val="FFFBEB"/>
                    </a:solidFill>
                  </a:tcPr>
                </a:tc>
                <a:tc>
                  <a:txBody>
                    <a:bodyPr/>
                    <a:lstStyle/>
                    <a:p>
                      <a:pPr>
                        <a:defRPr sz="800">
                          <a:solidFill>
                            <a:srgbClr val="2D3748"/>
                          </a:solidFill>
                        </a:defRPr>
                      </a:pPr>
                      <a:r>
                        <a:t>Understands each written step</a:t>
                      </a:r>
                    </a:p>
                  </a:txBody>
                  <a:tcPr>
                    <a:solidFill>
                      <a:srgbClr val="FFFBEB"/>
                    </a:solidFill>
                  </a:tcPr>
                </a:tc>
                <a:tc>
                  <a:txBody>
                    <a:bodyPr/>
                    <a:lstStyle/>
                    <a:p>
                      <a:pPr>
                        <a:defRPr sz="800">
                          <a:solidFill>
                            <a:srgbClr val="2D3748"/>
                          </a:solidFill>
                        </a:defRPr>
                      </a:pPr>
                      <a:r>
                        <a:t>Context → Code Mapper + Guardian</a:t>
                      </a:r>
                    </a:p>
                  </a:txBody>
                  <a:tcPr>
                    <a:solidFill>
                      <a:srgbClr val="FFFBEB"/>
                    </a:solidFill>
                  </a:tcPr>
                </a:tc>
                <a:extLst>
                  <a:ext uri="{0D108BD9-81ED-4DB2-BD59-A6C34878D82A}">
                    <a16:rowId xmlns:a16="http://schemas.microsoft.com/office/drawing/2014/main" val="10002"/>
                  </a:ext>
                </a:extLst>
              </a:tr>
              <a:tr h="686717">
                <a:tc>
                  <a:txBody>
                    <a:bodyPr/>
                    <a:lstStyle/>
                    <a:p>
                      <a:pPr>
                        <a:defRPr sz="800">
                          <a:solidFill>
                            <a:srgbClr val="2D3748"/>
                          </a:solidFill>
                        </a:defRPr>
                      </a:pPr>
                      <a:r>
                        <a:t>Code Mapper</a:t>
                      </a:r>
                    </a:p>
                  </a:txBody>
                  <a:tcPr/>
                </a:tc>
                <a:tc>
                  <a:txBody>
                    <a:bodyPr/>
                    <a:lstStyle/>
                    <a:p>
                      <a:pPr>
                        <a:defRPr sz="800">
                          <a:solidFill>
                            <a:srgbClr val="2D3748"/>
                          </a:solidFill>
                        </a:defRPr>
                      </a:pPr>
                      <a:r>
                        <a:t>Agent 2</a:t>
                      </a:r>
                    </a:p>
                  </a:txBody>
                  <a:tcPr/>
                </a:tc>
                <a:tc>
                  <a:txBody>
                    <a:bodyPr/>
                    <a:lstStyle/>
                    <a:p>
                      <a:pPr>
                        <a:defRPr sz="800">
                          <a:solidFill>
                            <a:srgbClr val="2D3748"/>
                          </a:solidFill>
                        </a:defRPr>
                      </a:pPr>
                      <a:r>
                        <a:t>Maps steps to proven actions</a:t>
                      </a:r>
                    </a:p>
                  </a:txBody>
                  <a:tcPr/>
                </a:tc>
                <a:tc>
                  <a:txBody>
                    <a:bodyPr/>
                    <a:lstStyle/>
                    <a:p>
                      <a:pPr>
                        <a:defRPr sz="800">
                          <a:solidFill>
                            <a:srgbClr val="2D3748"/>
                          </a:solidFill>
                        </a:defRPr>
                      </a:pPr>
                      <a:r>
                        <a:t>Draft script; receives fixes from 3 &amp; 4</a:t>
                      </a:r>
                    </a:p>
                  </a:txBody>
                  <a:tcPr/>
                </a:tc>
                <a:extLst>
                  <a:ext uri="{0D108BD9-81ED-4DB2-BD59-A6C34878D82A}">
                    <a16:rowId xmlns:a16="http://schemas.microsoft.com/office/drawing/2014/main" val="10003"/>
                  </a:ext>
                </a:extLst>
              </a:tr>
              <a:tr h="686717">
                <a:tc>
                  <a:txBody>
                    <a:bodyPr/>
                    <a:lstStyle/>
                    <a:p>
                      <a:pPr>
                        <a:defRPr sz="800">
                          <a:solidFill>
                            <a:srgbClr val="2D3748"/>
                          </a:solidFill>
                        </a:defRPr>
                      </a:pPr>
                      <a:r>
                        <a:t>Quality Guardian</a:t>
                      </a:r>
                    </a:p>
                  </a:txBody>
                  <a:tcPr>
                    <a:solidFill>
                      <a:srgbClr val="FFFBEB"/>
                    </a:solidFill>
                  </a:tcPr>
                </a:tc>
                <a:tc>
                  <a:txBody>
                    <a:bodyPr/>
                    <a:lstStyle/>
                    <a:p>
                      <a:pPr>
                        <a:defRPr sz="800">
                          <a:solidFill>
                            <a:srgbClr val="2D3748"/>
                          </a:solidFill>
                        </a:defRPr>
                      </a:pPr>
                      <a:r>
                        <a:t>Agent 3</a:t>
                      </a:r>
                    </a:p>
                  </a:txBody>
                  <a:tcPr>
                    <a:solidFill>
                      <a:srgbClr val="FFFBEB"/>
                    </a:solidFill>
                  </a:tcPr>
                </a:tc>
                <a:tc>
                  <a:txBody>
                    <a:bodyPr/>
                    <a:lstStyle/>
                    <a:p>
                      <a:pPr>
                        <a:defRPr sz="800">
                          <a:solidFill>
                            <a:srgbClr val="2D3748"/>
                          </a:solidFill>
                        </a:defRPr>
                      </a:pPr>
                      <a:r>
                        <a:t>Validates &amp; auto-fixes scripts</a:t>
                      </a:r>
                    </a:p>
                  </a:txBody>
                  <a:tcPr>
                    <a:solidFill>
                      <a:srgbClr val="FFFBEB"/>
                    </a:solidFill>
                  </a:tcPr>
                </a:tc>
                <a:tc>
                  <a:txBody>
                    <a:bodyPr/>
                    <a:lstStyle/>
                    <a:p>
                      <a:pPr>
                        <a:defRPr sz="800">
                          <a:solidFill>
                            <a:srgbClr val="2D3748"/>
                          </a:solidFill>
                        </a:defRPr>
                      </a:pPr>
                      <a:r>
                        <a:t>≤2 passes; loops to Code Mapper</a:t>
                      </a:r>
                    </a:p>
                  </a:txBody>
                  <a:tcPr>
                    <a:solidFill>
                      <a:srgbClr val="FFFBEB"/>
                    </a:solidFill>
                  </a:tcPr>
                </a:tc>
                <a:extLst>
                  <a:ext uri="{0D108BD9-81ED-4DB2-BD59-A6C34878D82A}">
                    <a16:rowId xmlns:a16="http://schemas.microsoft.com/office/drawing/2014/main" val="10004"/>
                  </a:ext>
                </a:extLst>
              </a:tr>
              <a:tr h="686717">
                <a:tc>
                  <a:txBody>
                    <a:bodyPr/>
                    <a:lstStyle/>
                    <a:p>
                      <a:pPr>
                        <a:defRPr sz="800">
                          <a:solidFill>
                            <a:srgbClr val="2D3748"/>
                          </a:solidFill>
                        </a:defRPr>
                      </a:pPr>
                      <a:r>
                        <a:t>Coverage Ensurer</a:t>
                      </a:r>
                    </a:p>
                  </a:txBody>
                  <a:tcPr/>
                </a:tc>
                <a:tc>
                  <a:txBody>
                    <a:bodyPr/>
                    <a:lstStyle/>
                    <a:p>
                      <a:pPr>
                        <a:defRPr sz="800">
                          <a:solidFill>
                            <a:srgbClr val="2D3748"/>
                          </a:solidFill>
                        </a:defRPr>
                      </a:pPr>
                      <a:r>
                        <a:t>Agent 4</a:t>
                      </a:r>
                    </a:p>
                  </a:txBody>
                  <a:tcPr/>
                </a:tc>
                <a:tc>
                  <a:txBody>
                    <a:bodyPr/>
                    <a:lstStyle/>
                    <a:p>
                      <a:pPr>
                        <a:defRPr sz="800">
                          <a:solidFill>
                            <a:srgbClr val="2D3748"/>
                          </a:solidFill>
                        </a:defRPr>
                      </a:pPr>
                      <a:r>
                        <a:t>Ensures every step in final script</a:t>
                      </a:r>
                    </a:p>
                  </a:txBody>
                  <a:tcPr/>
                </a:tc>
                <a:tc>
                  <a:txBody>
                    <a:bodyPr/>
                    <a:lstStyle/>
                    <a:p>
                      <a:pPr>
                        <a:defRPr sz="800">
                          <a:solidFill>
                            <a:srgbClr val="2D3748"/>
                          </a:solidFill>
                        </a:defRPr>
                      </a:pPr>
                      <a:r>
                        <a:rPr dirty="0"/>
                        <a:t>1 pass; max 8 steps; re-runs Guardian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11480"/>
          </a:xfrm>
          <a:prstGeom prst="rect">
            <a:avLst/>
          </a:prstGeom>
          <a:noFill/>
        </p:spPr>
        <p:txBody>
          <a:bodyPr wrap="square">
            <a:spAutoFit/>
          </a:bodyPr>
          <a:lstStyle/>
          <a:p>
            <a:pPr algn="l">
              <a:defRPr sz="2400" b="1">
                <a:solidFill>
                  <a:srgbClr val="1A365D"/>
                </a:solidFill>
              </a:defRPr>
            </a:pPr>
            <a:r>
              <a:t>Inputs &amp; Outputs</a:t>
            </a:r>
          </a:p>
        </p:txBody>
      </p:sp>
      <p:sp>
        <p:nvSpPr>
          <p:cNvPr id="3" name="TextBox 2"/>
          <p:cNvSpPr txBox="1"/>
          <p:nvPr/>
        </p:nvSpPr>
        <p:spPr>
          <a:xfrm>
            <a:off x="457200" y="777240"/>
            <a:ext cx="3840480" cy="320040"/>
          </a:xfrm>
          <a:prstGeom prst="rect">
            <a:avLst/>
          </a:prstGeom>
          <a:noFill/>
        </p:spPr>
        <p:txBody>
          <a:bodyPr wrap="square">
            <a:spAutoFit/>
          </a:bodyPr>
          <a:lstStyle/>
          <a:p>
            <a:pPr algn="l">
              <a:defRPr sz="1600" b="1">
                <a:solidFill>
                  <a:srgbClr val="38A169"/>
                </a:solidFill>
              </a:defRPr>
            </a:pPr>
            <a:r>
              <a:t>What Goes In</a:t>
            </a:r>
          </a:p>
        </p:txBody>
      </p:sp>
      <p:sp>
        <p:nvSpPr>
          <p:cNvPr id="4" name="TextBox 3"/>
          <p:cNvSpPr txBox="1"/>
          <p:nvPr/>
        </p:nvSpPr>
        <p:spPr>
          <a:xfrm>
            <a:off x="457200" y="1097280"/>
            <a:ext cx="3931920" cy="3200400"/>
          </a:xfrm>
          <a:prstGeom prst="rect">
            <a:avLst/>
          </a:prstGeom>
          <a:noFill/>
        </p:spPr>
        <p:txBody>
          <a:bodyPr wrap="square">
            <a:spAutoFit/>
          </a:bodyPr>
          <a:lstStyle/>
          <a:p>
            <a:pPr>
              <a:spcAft>
                <a:spcPts val="600"/>
              </a:spcAft>
              <a:defRPr sz="1300">
                <a:solidFill>
                  <a:srgbClr val="2D3748"/>
                </a:solidFill>
              </a:defRPr>
            </a:pPr>
            <a:r>
              <a:t>Written test cases — CSV, Excel, JSON, or plain text</a:t>
            </a:r>
          </a:p>
          <a:p>
            <a:pPr>
              <a:spcAft>
                <a:spcPts val="600"/>
              </a:spcAft>
              <a:defRPr sz="1300">
                <a:solidFill>
                  <a:srgbClr val="2D3748"/>
                </a:solidFill>
              </a:defRPr>
            </a:pPr>
            <a:r>
              <a:t>Step-by-step actions and expected results</a:t>
            </a:r>
          </a:p>
          <a:p>
            <a:pPr>
              <a:spcAft>
                <a:spcPts val="600"/>
              </a:spcAft>
              <a:defRPr sz="1300">
                <a:solidFill>
                  <a:srgbClr val="2D3748"/>
                </a:solidFill>
              </a:defRPr>
            </a:pPr>
            <a:r>
              <a:t>Runtime test data per category</a:t>
            </a:r>
          </a:p>
          <a:p>
            <a:pPr>
              <a:spcAft>
                <a:spcPts val="600"/>
              </a:spcAft>
              <a:defRPr sz="1300">
                <a:solidFill>
                  <a:srgbClr val="2D3748"/>
                </a:solidFill>
              </a:defRPr>
            </a:pPr>
            <a:r>
              <a:t>Application source (BTMS + DME repos) for UI locators</a:t>
            </a:r>
          </a:p>
        </p:txBody>
      </p:sp>
      <p:sp>
        <p:nvSpPr>
          <p:cNvPr id="5" name="TextBox 4"/>
          <p:cNvSpPr txBox="1"/>
          <p:nvPr/>
        </p:nvSpPr>
        <p:spPr>
          <a:xfrm>
            <a:off x="4754880" y="777240"/>
            <a:ext cx="3840480" cy="320040"/>
          </a:xfrm>
          <a:prstGeom prst="rect">
            <a:avLst/>
          </a:prstGeom>
          <a:noFill/>
        </p:spPr>
        <p:txBody>
          <a:bodyPr wrap="square">
            <a:spAutoFit/>
          </a:bodyPr>
          <a:lstStyle/>
          <a:p>
            <a:pPr algn="l">
              <a:defRPr sz="1600" b="1">
                <a:solidFill>
                  <a:srgbClr val="1A365D"/>
                </a:solidFill>
              </a:defRPr>
            </a:pPr>
            <a:r>
              <a:t>What Comes Out</a:t>
            </a:r>
          </a:p>
        </p:txBody>
      </p:sp>
      <p:sp>
        <p:nvSpPr>
          <p:cNvPr id="6" name="TextBox 5"/>
          <p:cNvSpPr txBox="1"/>
          <p:nvPr/>
        </p:nvSpPr>
        <p:spPr>
          <a:xfrm>
            <a:off x="4754880" y="1097280"/>
            <a:ext cx="3931920" cy="3200400"/>
          </a:xfrm>
          <a:prstGeom prst="rect">
            <a:avLst/>
          </a:prstGeom>
          <a:noFill/>
        </p:spPr>
        <p:txBody>
          <a:bodyPr wrap="square">
            <a:spAutoFit/>
          </a:bodyPr>
          <a:lstStyle/>
          <a:p>
            <a:pPr>
              <a:spcAft>
                <a:spcPts val="600"/>
              </a:spcAft>
              <a:defRPr sz="1300">
                <a:solidFill>
                  <a:srgbClr val="2D3748"/>
                </a:solidFill>
              </a:defRPr>
            </a:pPr>
            <a:r>
              <a:t>Playwright .spec.ts scripts — 24 billing toggle &amp; 4 DFB generated</a:t>
            </a:r>
          </a:p>
          <a:p>
            <a:pPr>
              <a:spcAft>
                <a:spcPts val="600"/>
              </a:spcAft>
              <a:defRPr sz="1300">
                <a:solidFill>
                  <a:srgbClr val="2D3748"/>
                </a:solidFill>
              </a:defRPr>
            </a:pPr>
            <a:r>
              <a:t>Organized by product category</a:t>
            </a:r>
          </a:p>
          <a:p>
            <a:pPr>
              <a:spcAft>
                <a:spcPts val="600"/>
              </a:spcAft>
              <a:defRPr sz="1300">
                <a:solidFill>
                  <a:srgbClr val="2D3748"/>
                </a:solidFill>
              </a:defRPr>
            </a:pPr>
            <a:r>
              <a:t>Traceable to original test case step numbers</a:t>
            </a:r>
          </a:p>
          <a:p>
            <a:pPr>
              <a:spcAft>
                <a:spcPts val="600"/>
              </a:spcAft>
              <a:defRPr sz="1300">
                <a:solidFill>
                  <a:srgbClr val="2D3748"/>
                </a:solidFill>
              </a:defRPr>
            </a:pPr>
            <a:r>
              <a:t>Parsed data saved to dedicated module data files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1A365D"/>
                </a:solidFill>
              </a:defRPr>
            </a:pPr>
            <a:r>
              <a:t>Governance &amp; Evidence — How Quality Is Enforced</a:t>
            </a:r>
          </a:p>
        </p:txBody>
      </p:sp>
      <p:graphicFrame>
        <p:nvGraphicFramePr>
          <p:cNvPr id="3" name="Table 2"/>
          <p:cNvGraphicFramePr>
            <a:graphicFrameLocks noGrp="1"/>
          </p:cNvGraphicFramePr>
          <p:nvPr>
            <p:extLst>
              <p:ext uri="{D42A27DB-BD31-4B8C-83A1-F6EECF244321}">
                <p14:modId xmlns:p14="http://schemas.microsoft.com/office/powerpoint/2010/main" val="1819733722"/>
              </p:ext>
            </p:extLst>
          </p:nvPr>
        </p:nvGraphicFramePr>
        <p:xfrm>
          <a:off x="320040" y="822960"/>
          <a:ext cx="8569578" cy="4189050"/>
        </p:xfrm>
        <a:graphic>
          <a:graphicData uri="http://schemas.openxmlformats.org/drawingml/2006/table">
            <a:tbl>
              <a:tblPr firstRow="1" bandRow="1">
                <a:tableStyleId>{5C22544A-7EE6-4342-B048-85BDC9FD1C3A}</a:tableStyleId>
              </a:tblPr>
              <a:tblGrid>
                <a:gridCol w="2856526">
                  <a:extLst>
                    <a:ext uri="{9D8B030D-6E8A-4147-A177-3AD203B41FA5}">
                      <a16:colId xmlns:a16="http://schemas.microsoft.com/office/drawing/2014/main" val="20000"/>
                    </a:ext>
                  </a:extLst>
                </a:gridCol>
                <a:gridCol w="2856526">
                  <a:extLst>
                    <a:ext uri="{9D8B030D-6E8A-4147-A177-3AD203B41FA5}">
                      <a16:colId xmlns:a16="http://schemas.microsoft.com/office/drawing/2014/main" val="20001"/>
                    </a:ext>
                  </a:extLst>
                </a:gridCol>
                <a:gridCol w="2856526">
                  <a:extLst>
                    <a:ext uri="{9D8B030D-6E8A-4147-A177-3AD203B41FA5}">
                      <a16:colId xmlns:a16="http://schemas.microsoft.com/office/drawing/2014/main" val="20002"/>
                    </a:ext>
                  </a:extLst>
                </a:gridCol>
              </a:tblGrid>
              <a:tr h="698175">
                <a:tc>
                  <a:txBody>
                    <a:bodyPr/>
                    <a:lstStyle/>
                    <a:p>
                      <a:pPr>
                        <a:defRPr sz="1000" b="1">
                          <a:solidFill>
                            <a:srgbClr val="FFFFFF"/>
                          </a:solidFill>
                        </a:defRPr>
                      </a:pPr>
                      <a:r>
                        <a:t>Artifact</a:t>
                      </a:r>
                    </a:p>
                  </a:txBody>
                  <a:tcPr>
                    <a:solidFill>
                      <a:srgbClr val="1A365D"/>
                    </a:solidFill>
                  </a:tcPr>
                </a:tc>
                <a:tc>
                  <a:txBody>
                    <a:bodyPr/>
                    <a:lstStyle/>
                    <a:p>
                      <a:pPr>
                        <a:defRPr sz="1000" b="1">
                          <a:solidFill>
                            <a:srgbClr val="FFFFFF"/>
                          </a:solidFill>
                        </a:defRPr>
                      </a:pPr>
                      <a:r>
                        <a:t>What It Ensures</a:t>
                      </a:r>
                    </a:p>
                  </a:txBody>
                  <a:tcPr>
                    <a:solidFill>
                      <a:srgbClr val="1A365D"/>
                    </a:solidFill>
                  </a:tcPr>
                </a:tc>
                <a:tc>
                  <a:txBody>
                    <a:bodyPr/>
                    <a:lstStyle/>
                    <a:p>
                      <a:pPr>
                        <a:defRPr sz="1000" b="1">
                          <a:solidFill>
                            <a:srgbClr val="FFFFFF"/>
                          </a:solidFill>
                        </a:defRPr>
                      </a:pPr>
                      <a:r>
                        <a:t>Type</a:t>
                      </a:r>
                    </a:p>
                  </a:txBody>
                  <a:tcPr>
                    <a:solidFill>
                      <a:srgbClr val="1A365D"/>
                    </a:solidFill>
                  </a:tcPr>
                </a:tc>
                <a:extLst>
                  <a:ext uri="{0D108BD9-81ED-4DB2-BD59-A6C34878D82A}">
                    <a16:rowId xmlns:a16="http://schemas.microsoft.com/office/drawing/2014/main" val="10000"/>
                  </a:ext>
                </a:extLst>
              </a:tr>
              <a:tr h="698175">
                <a:tc>
                  <a:txBody>
                    <a:bodyPr/>
                    <a:lstStyle/>
                    <a:p>
                      <a:pPr>
                        <a:defRPr sz="1000">
                          <a:solidFill>
                            <a:srgbClr val="2D3748"/>
                          </a:solidFill>
                        </a:defRPr>
                      </a:pPr>
                      <a:r>
                        <a:t>Cursor governance rules</a:t>
                      </a:r>
                    </a:p>
                  </a:txBody>
                  <a:tcPr/>
                </a:tc>
                <a:tc>
                  <a:txBody>
                    <a:bodyPr/>
                    <a:lstStyle/>
                    <a:p>
                      <a:pPr>
                        <a:defRPr sz="1000">
                          <a:solidFill>
                            <a:srgbClr val="2D3748"/>
                          </a:solidFill>
                        </a:defRPr>
                      </a:pPr>
                      <a:r>
                        <a:t>Architecture standards, guardrails, POM protection</a:t>
                      </a:r>
                    </a:p>
                  </a:txBody>
                  <a:tcPr/>
                </a:tc>
                <a:tc>
                  <a:txBody>
                    <a:bodyPr/>
                    <a:lstStyle/>
                    <a:p>
                      <a:pPr>
                        <a:defRPr sz="1000">
                          <a:solidFill>
                            <a:srgbClr val="2D3748"/>
                          </a:solidFill>
                        </a:defRPr>
                      </a:pPr>
                      <a:r>
                        <a:t>Always on</a:t>
                      </a:r>
                    </a:p>
                  </a:txBody>
                  <a:tcPr/>
                </a:tc>
                <a:extLst>
                  <a:ext uri="{0D108BD9-81ED-4DB2-BD59-A6C34878D82A}">
                    <a16:rowId xmlns:a16="http://schemas.microsoft.com/office/drawing/2014/main" val="10001"/>
                  </a:ext>
                </a:extLst>
              </a:tr>
              <a:tr h="698175">
                <a:tc>
                  <a:txBody>
                    <a:bodyPr/>
                    <a:lstStyle/>
                    <a:p>
                      <a:pPr>
                        <a:defRPr sz="1000">
                          <a:solidFill>
                            <a:srgbClr val="2D3748"/>
                          </a:solidFill>
                        </a:defRPr>
                      </a:pPr>
                      <a:r>
                        <a:t>130+ automation patterns</a:t>
                      </a:r>
                    </a:p>
                  </a:txBody>
                  <a:tcPr>
                    <a:solidFill>
                      <a:srgbClr val="FFFBEB"/>
                    </a:solidFill>
                  </a:tcPr>
                </a:tc>
                <a:tc>
                  <a:txBody>
                    <a:bodyPr/>
                    <a:lstStyle/>
                    <a:p>
                      <a:pPr>
                        <a:defRPr sz="1000">
                          <a:solidFill>
                            <a:srgbClr val="2D3748"/>
                          </a:solidFill>
                        </a:defRPr>
                      </a:pPr>
                      <a:r>
                        <a:t>Proven step-to-code mappings</a:t>
                      </a:r>
                    </a:p>
                  </a:txBody>
                  <a:tcPr>
                    <a:solidFill>
                      <a:srgbClr val="FFFBEB"/>
                    </a:solidFill>
                  </a:tcPr>
                </a:tc>
                <a:tc>
                  <a:txBody>
                    <a:bodyPr/>
                    <a:lstStyle/>
                    <a:p>
                      <a:pPr>
                        <a:defRPr sz="1000">
                          <a:solidFill>
                            <a:srgbClr val="2D3748"/>
                          </a:solidFill>
                        </a:defRPr>
                      </a:pPr>
                      <a:r>
                        <a:t>Rule-based</a:t>
                      </a:r>
                    </a:p>
                  </a:txBody>
                  <a:tcPr>
                    <a:solidFill>
                      <a:srgbClr val="FFFBEB"/>
                    </a:solidFill>
                  </a:tcPr>
                </a:tc>
                <a:extLst>
                  <a:ext uri="{0D108BD9-81ED-4DB2-BD59-A6C34878D82A}">
                    <a16:rowId xmlns:a16="http://schemas.microsoft.com/office/drawing/2014/main" val="10002"/>
                  </a:ext>
                </a:extLst>
              </a:tr>
              <a:tr h="698175">
                <a:tc>
                  <a:txBody>
                    <a:bodyPr/>
                    <a:lstStyle/>
                    <a:p>
                      <a:pPr>
                        <a:defRPr sz="1000">
                          <a:solidFill>
                            <a:srgbClr val="2D3748"/>
                          </a:solidFill>
                        </a:defRPr>
                      </a:pPr>
                      <a:r>
                        <a:t>5,900+ indexed UI elements</a:t>
                      </a:r>
                    </a:p>
                  </a:txBody>
                  <a:tcPr/>
                </a:tc>
                <a:tc>
                  <a:txBody>
                    <a:bodyPr/>
                    <a:lstStyle/>
                    <a:p>
                      <a:pPr>
                        <a:defRPr sz="1000">
                          <a:solidFill>
                            <a:srgbClr val="2D3748"/>
                          </a:solidFill>
                        </a:defRPr>
                      </a:pPr>
                      <a:r>
                        <a:rPr dirty="0"/>
                        <a:t>Real locators from app source</a:t>
                      </a:r>
                    </a:p>
                  </a:txBody>
                  <a:tcPr/>
                </a:tc>
                <a:tc>
                  <a:txBody>
                    <a:bodyPr/>
                    <a:lstStyle/>
                    <a:p>
                      <a:pPr>
                        <a:defRPr sz="1000">
                          <a:solidFill>
                            <a:srgbClr val="2D3748"/>
                          </a:solidFill>
                        </a:defRPr>
                      </a:pPr>
                      <a:r>
                        <a:t>App source</a:t>
                      </a:r>
                    </a:p>
                  </a:txBody>
                  <a:tcPr/>
                </a:tc>
                <a:extLst>
                  <a:ext uri="{0D108BD9-81ED-4DB2-BD59-A6C34878D82A}">
                    <a16:rowId xmlns:a16="http://schemas.microsoft.com/office/drawing/2014/main" val="10003"/>
                  </a:ext>
                </a:extLst>
              </a:tr>
              <a:tr h="698175">
                <a:tc>
                  <a:txBody>
                    <a:bodyPr/>
                    <a:lstStyle/>
                    <a:p>
                      <a:pPr>
                        <a:defRPr sz="1000">
                          <a:solidFill>
                            <a:srgbClr val="2D3748"/>
                          </a:solidFill>
                        </a:defRPr>
                      </a:pPr>
                      <a:r>
                        <a:t>Reference test catalog</a:t>
                      </a:r>
                    </a:p>
                  </a:txBody>
                  <a:tcPr>
                    <a:solidFill>
                      <a:srgbClr val="FFFBEB"/>
                    </a:solidFill>
                  </a:tcPr>
                </a:tc>
                <a:tc>
                  <a:txBody>
                    <a:bodyPr/>
                    <a:lstStyle/>
                    <a:p>
                      <a:pPr>
                        <a:defRPr sz="1000">
                          <a:solidFill>
                            <a:srgbClr val="2D3748"/>
                          </a:solidFill>
                        </a:defRPr>
                      </a:pPr>
                      <a:r>
                        <a:t>Clone when ≥70% similar</a:t>
                      </a:r>
                    </a:p>
                  </a:txBody>
                  <a:tcPr>
                    <a:solidFill>
                      <a:srgbClr val="FFFBEB"/>
                    </a:solidFill>
                  </a:tcPr>
                </a:tc>
                <a:tc>
                  <a:txBody>
                    <a:bodyPr/>
                    <a:lstStyle/>
                    <a:p>
                      <a:pPr>
                        <a:defRPr sz="1000">
                          <a:solidFill>
                            <a:srgbClr val="2D3748"/>
                          </a:solidFill>
                        </a:defRPr>
                      </a:pPr>
                      <a:r>
                        <a:t>Pattern reuse</a:t>
                      </a:r>
                    </a:p>
                  </a:txBody>
                  <a:tcPr>
                    <a:solidFill>
                      <a:srgbClr val="FFFBEB"/>
                    </a:solidFill>
                  </a:tcPr>
                </a:tc>
                <a:extLst>
                  <a:ext uri="{0D108BD9-81ED-4DB2-BD59-A6C34878D82A}">
                    <a16:rowId xmlns:a16="http://schemas.microsoft.com/office/drawing/2014/main" val="10004"/>
                  </a:ext>
                </a:extLst>
              </a:tr>
              <a:tr h="698175">
                <a:tc>
                  <a:txBody>
                    <a:bodyPr/>
                    <a:lstStyle/>
                    <a:p>
                      <a:pPr>
                        <a:defRPr sz="1000">
                          <a:solidFill>
                            <a:srgbClr val="2D3748"/>
                          </a:solidFill>
                        </a:defRPr>
                      </a:pPr>
                      <a:r>
                        <a:t>25+ auto-fix rules</a:t>
                      </a:r>
                    </a:p>
                  </a:txBody>
                  <a:tcPr/>
                </a:tc>
                <a:tc>
                  <a:txBody>
                    <a:bodyPr/>
                    <a:lstStyle/>
                    <a:p>
                      <a:pPr>
                        <a:defRPr sz="1000">
                          <a:solidFill>
                            <a:srgbClr val="2D3748"/>
                          </a:solidFill>
                        </a:defRPr>
                      </a:pPr>
                      <a:r>
                        <a:t>Quality Guardian corrects before review</a:t>
                      </a:r>
                    </a:p>
                  </a:txBody>
                  <a:tcPr/>
                </a:tc>
                <a:tc>
                  <a:txBody>
                    <a:bodyPr/>
                    <a:lstStyle/>
                    <a:p>
                      <a:pPr>
                        <a:defRPr sz="1000">
                          <a:solidFill>
                            <a:srgbClr val="2D3748"/>
                          </a:solidFill>
                        </a:defRPr>
                      </a:pPr>
                      <a:r>
                        <a:rPr dirty="0"/>
                        <a:t>Self-healing</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11480" cy="4114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3" name="TextBox 2"/>
          <p:cNvSpPr txBox="1"/>
          <p:nvPr/>
        </p:nvSpPr>
        <p:spPr>
          <a:xfrm>
            <a:off x="960120" y="292608"/>
            <a:ext cx="7772400" cy="502920"/>
          </a:xfrm>
          <a:prstGeom prst="rect">
            <a:avLst/>
          </a:prstGeom>
          <a:noFill/>
        </p:spPr>
        <p:txBody>
          <a:bodyPr wrap="square">
            <a:spAutoFit/>
          </a:bodyPr>
          <a:lstStyle/>
          <a:p>
            <a:pPr algn="l">
              <a:defRPr sz="2600" b="1">
                <a:solidFill>
                  <a:srgbClr val="1A365D"/>
                </a:solidFill>
              </a:defRPr>
            </a:pPr>
            <a:r>
              <a:t>Upstream Gaps &amp; Next Steps</a:t>
            </a:r>
          </a:p>
        </p:txBody>
      </p:sp>
      <p:sp>
        <p:nvSpPr>
          <p:cNvPr id="4" name="Rectangle 3"/>
          <p:cNvSpPr/>
          <p:nvPr/>
        </p:nvSpPr>
        <p:spPr>
          <a:xfrm>
            <a:off x="457200" y="914400"/>
            <a:ext cx="8229600" cy="777240"/>
          </a:xfrm>
          <a:prstGeom prst="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005840"/>
            <a:ext cx="7955279" cy="640080"/>
          </a:xfrm>
          <a:prstGeom prst="rect">
            <a:avLst/>
          </a:prstGeom>
          <a:noFill/>
        </p:spPr>
        <p:txBody>
          <a:bodyPr wrap="square">
            <a:spAutoFit/>
          </a:bodyPr>
          <a:lstStyle/>
          <a:p>
            <a:pPr algn="l">
              <a:defRPr sz="1200" b="0">
                <a:solidFill>
                  <a:srgbClr val="742A2A"/>
                </a:solidFill>
              </a:defRPr>
            </a:pPr>
            <a:r>
              <a:t>The pipeline is built and working — but its effectiveness depends on the quality of inputs.</a:t>
            </a:r>
          </a:p>
        </p:txBody>
      </p:sp>
      <p:sp>
        <p:nvSpPr>
          <p:cNvPr id="6" name="TextBox 5"/>
          <p:cNvSpPr txBox="1"/>
          <p:nvPr/>
        </p:nvSpPr>
        <p:spPr>
          <a:xfrm>
            <a:off x="457200" y="1828800"/>
            <a:ext cx="8229600" cy="548640"/>
          </a:xfrm>
          <a:prstGeom prst="rect">
            <a:avLst/>
          </a:prstGeom>
          <a:noFill/>
        </p:spPr>
        <p:txBody>
          <a:bodyPr wrap="square">
            <a:spAutoFit/>
          </a:bodyPr>
          <a:lstStyle/>
          <a:p>
            <a:pPr algn="l">
              <a:defRPr sz="1300" b="0">
                <a:solidFill>
                  <a:srgbClr val="742A2A"/>
                </a:solidFill>
              </a:defRPr>
            </a:pPr>
            <a:r>
              <a:t>Thin test cases, undocumented business rules, or restricted application access will limit what the agents and AI Script Writer can produce.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3931920" cy="320040"/>
          </a:xfrm>
          <a:prstGeom prst="rect">
            <a:avLst/>
          </a:prstGeom>
          <a:noFill/>
        </p:spPr>
        <p:txBody>
          <a:bodyPr wrap="square">
            <a:spAutoFit/>
          </a:bodyPr>
          <a:lstStyle/>
          <a:p>
            <a:pPr algn="l">
              <a:defRPr sz="1400" b="1">
                <a:solidFill>
                  <a:srgbClr val="ED8936"/>
                </a:solidFill>
              </a:defRPr>
            </a:pPr>
            <a:r>
              <a:t>① Test Cases Lack Sufficient Detail</a:t>
            </a:r>
          </a:p>
        </p:txBody>
      </p:sp>
      <p:sp>
        <p:nvSpPr>
          <p:cNvPr id="3" name="TextBox 2"/>
          <p:cNvSpPr txBox="1"/>
          <p:nvPr/>
        </p:nvSpPr>
        <p:spPr>
          <a:xfrm>
            <a:off x="457200" y="640080"/>
            <a:ext cx="3931920" cy="2286000"/>
          </a:xfrm>
          <a:prstGeom prst="rect">
            <a:avLst/>
          </a:prstGeom>
          <a:noFill/>
        </p:spPr>
        <p:txBody>
          <a:bodyPr wrap="square">
            <a:spAutoFit/>
          </a:bodyPr>
          <a:lstStyle/>
          <a:p>
            <a:pPr>
              <a:spcAft>
                <a:spcPts val="600"/>
              </a:spcAft>
              <a:defRPr sz="1100">
                <a:solidFill>
                  <a:srgbClr val="2D3748"/>
                </a:solidFill>
              </a:defRPr>
            </a:pPr>
            <a:r>
              <a:rPr dirty="0" err="1"/>
              <a:t>Testmo</a:t>
            </a:r>
            <a:r>
              <a:rPr dirty="0"/>
              <a:t> cases need full steps and expected outcomes</a:t>
            </a:r>
          </a:p>
          <a:p>
            <a:pPr>
              <a:spcAft>
                <a:spcPts val="600"/>
              </a:spcAft>
              <a:defRPr sz="1100">
                <a:solidFill>
                  <a:srgbClr val="2D3748"/>
                </a:solidFill>
              </a:defRPr>
            </a:pPr>
            <a:r>
              <a:rPr dirty="0"/>
              <a:t>Manual QA spends 3–5 hours per test case — largest upstream effort</a:t>
            </a:r>
          </a:p>
          <a:p>
            <a:pPr>
              <a:spcAft>
                <a:spcPts val="600"/>
              </a:spcAft>
              <a:defRPr sz="1100">
                <a:solidFill>
                  <a:srgbClr val="2D3748"/>
                </a:solidFill>
              </a:defRPr>
            </a:pPr>
            <a:r>
              <a:rPr dirty="0"/>
              <a:t>Without detail, spec generation is inaccurate</a:t>
            </a:r>
          </a:p>
        </p:txBody>
      </p:sp>
      <p:sp>
        <p:nvSpPr>
          <p:cNvPr id="4" name="TextBox 3"/>
          <p:cNvSpPr txBox="1"/>
          <p:nvPr/>
        </p:nvSpPr>
        <p:spPr>
          <a:xfrm>
            <a:off x="4663440" y="274320"/>
            <a:ext cx="3931920" cy="320040"/>
          </a:xfrm>
          <a:prstGeom prst="rect">
            <a:avLst/>
          </a:prstGeom>
          <a:noFill/>
        </p:spPr>
        <p:txBody>
          <a:bodyPr wrap="square">
            <a:spAutoFit/>
          </a:bodyPr>
          <a:lstStyle/>
          <a:p>
            <a:pPr algn="l">
              <a:defRPr sz="1400" b="1">
                <a:solidFill>
                  <a:srgbClr val="ED8936"/>
                </a:solidFill>
              </a:defRPr>
            </a:pPr>
            <a:r>
              <a:t>② Tribal Knowledge — Scenarios Without Steps</a:t>
            </a:r>
          </a:p>
        </p:txBody>
      </p:sp>
      <p:sp>
        <p:nvSpPr>
          <p:cNvPr id="5" name="TextBox 4"/>
          <p:cNvSpPr txBox="1"/>
          <p:nvPr/>
        </p:nvSpPr>
        <p:spPr>
          <a:xfrm>
            <a:off x="4663440" y="640080"/>
            <a:ext cx="3931920" cy="2286000"/>
          </a:xfrm>
          <a:prstGeom prst="rect">
            <a:avLst/>
          </a:prstGeom>
          <a:noFill/>
        </p:spPr>
        <p:txBody>
          <a:bodyPr wrap="square">
            <a:spAutoFit/>
          </a:bodyPr>
          <a:lstStyle/>
          <a:p>
            <a:pPr>
              <a:spcAft>
                <a:spcPts val="600"/>
              </a:spcAft>
              <a:defRPr sz="1100">
                <a:solidFill>
                  <a:srgbClr val="2D3748"/>
                </a:solidFill>
              </a:defRPr>
            </a:pPr>
            <a:r>
              <a:t>Scenarios exist in JIRA — the what is documented</a:t>
            </a:r>
          </a:p>
          <a:p>
            <a:pPr>
              <a:spcAft>
                <a:spcPts val="600"/>
              </a:spcAft>
              <a:defRPr sz="1100">
                <a:solidFill>
                  <a:srgbClr val="2D3748"/>
                </a:solidFill>
              </a:defRPr>
            </a:pPr>
            <a:r>
              <a:t>Agent-ready step detail is often missing — the how is not</a:t>
            </a:r>
          </a:p>
          <a:p>
            <a:pPr>
              <a:spcAft>
                <a:spcPts val="600"/>
              </a:spcAft>
              <a:defRPr sz="1100">
                <a:solidFill>
                  <a:srgbClr val="2D3748"/>
                </a:solidFill>
              </a:defRPr>
            </a:pPr>
            <a:r>
              <a:t>Precondition paths cannot be automated reliably</a:t>
            </a:r>
          </a:p>
        </p:txBody>
      </p:sp>
      <p:sp>
        <p:nvSpPr>
          <p:cNvPr id="10" name="TextBox 9">
            <a:extLst>
              <a:ext uri="{FF2B5EF4-FFF2-40B4-BE49-F238E27FC236}">
                <a16:creationId xmlns:a16="http://schemas.microsoft.com/office/drawing/2014/main" id="{0B54DE39-07B2-ACA8-D46A-1C87F5954FA1}"/>
              </a:ext>
            </a:extLst>
          </p:cNvPr>
          <p:cNvSpPr txBox="1"/>
          <p:nvPr/>
        </p:nvSpPr>
        <p:spPr>
          <a:xfrm>
            <a:off x="457200" y="2131766"/>
            <a:ext cx="3931920" cy="320040"/>
          </a:xfrm>
          <a:prstGeom prst="rect">
            <a:avLst/>
          </a:prstGeom>
          <a:noFill/>
        </p:spPr>
        <p:txBody>
          <a:bodyPr wrap="square">
            <a:spAutoFit/>
          </a:bodyPr>
          <a:lstStyle/>
          <a:p>
            <a:pPr algn="l">
              <a:defRPr sz="1400" b="1">
                <a:solidFill>
                  <a:srgbClr val="ED8936"/>
                </a:solidFill>
              </a:defRPr>
            </a:pPr>
            <a:r>
              <a:rPr dirty="0"/>
              <a:t>③ Limited Application Source Access</a:t>
            </a:r>
          </a:p>
        </p:txBody>
      </p:sp>
      <p:sp>
        <p:nvSpPr>
          <p:cNvPr id="11" name="TextBox 10">
            <a:extLst>
              <a:ext uri="{FF2B5EF4-FFF2-40B4-BE49-F238E27FC236}">
                <a16:creationId xmlns:a16="http://schemas.microsoft.com/office/drawing/2014/main" id="{300E76CC-BC14-6156-4B67-28416C749D5C}"/>
              </a:ext>
            </a:extLst>
          </p:cNvPr>
          <p:cNvSpPr txBox="1"/>
          <p:nvPr/>
        </p:nvSpPr>
        <p:spPr>
          <a:xfrm>
            <a:off x="457200" y="2497526"/>
            <a:ext cx="3931920" cy="2286000"/>
          </a:xfrm>
          <a:prstGeom prst="rect">
            <a:avLst/>
          </a:prstGeom>
          <a:noFill/>
        </p:spPr>
        <p:txBody>
          <a:bodyPr wrap="square">
            <a:spAutoFit/>
          </a:bodyPr>
          <a:lstStyle/>
          <a:p>
            <a:pPr>
              <a:spcAft>
                <a:spcPts val="600"/>
              </a:spcAft>
              <a:defRPr sz="1100">
                <a:solidFill>
                  <a:srgbClr val="2D3748"/>
                </a:solidFill>
              </a:defRPr>
            </a:pPr>
            <a:r>
              <a:rPr dirty="0"/>
              <a:t>UI Element Index syncs BTMS and DME repos only</a:t>
            </a:r>
          </a:p>
          <a:p>
            <a:pPr>
              <a:spcAft>
                <a:spcPts val="600"/>
              </a:spcAft>
              <a:defRPr sz="1100">
                <a:solidFill>
                  <a:srgbClr val="2D3748"/>
                </a:solidFill>
              </a:defRPr>
            </a:pPr>
            <a:r>
              <a:rPr dirty="0"/>
              <a:t>Code Mapper cannot discover new UI IDs without source</a:t>
            </a:r>
          </a:p>
          <a:p>
            <a:pPr>
              <a:spcAft>
                <a:spcPts val="600"/>
              </a:spcAft>
              <a:defRPr sz="1100">
                <a:solidFill>
                  <a:srgbClr val="2D3748"/>
                </a:solidFill>
              </a:defRPr>
            </a:pPr>
            <a:r>
              <a:rPr dirty="0"/>
              <a:t>Broader repo sync needed for full coverage</a:t>
            </a:r>
          </a:p>
        </p:txBody>
      </p:sp>
      <p:sp>
        <p:nvSpPr>
          <p:cNvPr id="12" name="TextBox 11">
            <a:extLst>
              <a:ext uri="{FF2B5EF4-FFF2-40B4-BE49-F238E27FC236}">
                <a16:creationId xmlns:a16="http://schemas.microsoft.com/office/drawing/2014/main" id="{CC614CAF-83DE-8085-8A37-8A7898CEAA3E}"/>
              </a:ext>
            </a:extLst>
          </p:cNvPr>
          <p:cNvSpPr txBox="1"/>
          <p:nvPr/>
        </p:nvSpPr>
        <p:spPr>
          <a:xfrm>
            <a:off x="4663440" y="2131766"/>
            <a:ext cx="3931920" cy="320040"/>
          </a:xfrm>
          <a:prstGeom prst="rect">
            <a:avLst/>
          </a:prstGeom>
          <a:noFill/>
        </p:spPr>
        <p:txBody>
          <a:bodyPr wrap="square">
            <a:spAutoFit/>
          </a:bodyPr>
          <a:lstStyle/>
          <a:p>
            <a:pPr algn="l">
              <a:defRPr sz="1400" b="1">
                <a:solidFill>
                  <a:srgbClr val="ED8936"/>
                </a:solidFill>
              </a:defRPr>
            </a:pPr>
            <a:r>
              <a:t>④ Execution Time — Monolithic Scripts</a:t>
            </a:r>
          </a:p>
        </p:txBody>
      </p:sp>
      <p:sp>
        <p:nvSpPr>
          <p:cNvPr id="13" name="TextBox 12">
            <a:extLst>
              <a:ext uri="{FF2B5EF4-FFF2-40B4-BE49-F238E27FC236}">
                <a16:creationId xmlns:a16="http://schemas.microsoft.com/office/drawing/2014/main" id="{67D9E430-8E69-5644-3076-6BD219AA19CA}"/>
              </a:ext>
            </a:extLst>
          </p:cNvPr>
          <p:cNvSpPr txBox="1"/>
          <p:nvPr/>
        </p:nvSpPr>
        <p:spPr>
          <a:xfrm>
            <a:off x="4663440" y="2497526"/>
            <a:ext cx="3931920" cy="2286000"/>
          </a:xfrm>
          <a:prstGeom prst="rect">
            <a:avLst/>
          </a:prstGeom>
          <a:noFill/>
        </p:spPr>
        <p:txBody>
          <a:bodyPr wrap="square">
            <a:spAutoFit/>
          </a:bodyPr>
          <a:lstStyle/>
          <a:p>
            <a:pPr>
              <a:spcAft>
                <a:spcPts val="600"/>
              </a:spcAft>
              <a:defRPr sz="1100">
                <a:solidFill>
                  <a:srgbClr val="2D3748"/>
                </a:solidFill>
              </a:defRPr>
            </a:pPr>
            <a:r>
              <a:t>Large cases become single long-running scripts</a:t>
            </a:r>
          </a:p>
          <a:p>
            <a:pPr>
              <a:spcAft>
                <a:spcPts val="600"/>
              </a:spcAft>
              <a:defRPr sz="1100">
                <a:solidFill>
                  <a:srgbClr val="2D3748"/>
                </a:solidFill>
              </a:defRPr>
            </a:pPr>
            <a:r>
              <a:t>No shared preconditions or phased build-up</a:t>
            </a:r>
          </a:p>
          <a:p>
            <a:pPr>
              <a:spcAft>
                <a:spcPts val="600"/>
              </a:spcAft>
              <a:defRPr sz="1100">
                <a:solidFill>
                  <a:srgbClr val="2D3748"/>
                </a:solidFill>
              </a:defRPr>
            </a:pPr>
            <a:r>
              <a:t>Multi-app flows multiply wall-clock time per run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411480"/>
          </a:xfrm>
          <a:prstGeom prst="rect">
            <a:avLst/>
          </a:prstGeom>
          <a:noFill/>
        </p:spPr>
        <p:txBody>
          <a:bodyPr wrap="square">
            <a:spAutoFit/>
          </a:bodyPr>
          <a:lstStyle/>
          <a:p>
            <a:pPr algn="l">
              <a:defRPr sz="2400" b="1">
                <a:solidFill>
                  <a:srgbClr val="38A169"/>
                </a:solidFill>
              </a:defRPr>
            </a:pPr>
            <a:r>
              <a:t>Recommended Next Steps</a:t>
            </a:r>
          </a:p>
        </p:txBody>
      </p:sp>
      <p:sp>
        <p:nvSpPr>
          <p:cNvPr id="3" name="TextBox 2"/>
          <p:cNvSpPr txBox="1"/>
          <p:nvPr/>
        </p:nvSpPr>
        <p:spPr>
          <a:xfrm>
            <a:off x="548640" y="914400"/>
            <a:ext cx="3840480" cy="3657600"/>
          </a:xfrm>
          <a:prstGeom prst="rect">
            <a:avLst/>
          </a:prstGeom>
          <a:noFill/>
        </p:spPr>
        <p:txBody>
          <a:bodyPr wrap="square">
            <a:spAutoFit/>
          </a:bodyPr>
          <a:lstStyle/>
          <a:p>
            <a:pPr>
              <a:spcAft>
                <a:spcPts val="600"/>
              </a:spcAft>
              <a:defRPr sz="1300">
                <a:solidFill>
                  <a:srgbClr val="2D3748"/>
                </a:solidFill>
              </a:defRPr>
            </a:pPr>
            <a:r>
              <a:t>Enrich test cases with explicit expected results per step</a:t>
            </a:r>
          </a:p>
          <a:p>
            <a:pPr>
              <a:spcAft>
                <a:spcPts val="600"/>
              </a:spcAft>
              <a:defRPr sz="1300">
                <a:solidFill>
                  <a:srgbClr val="2D3748"/>
                </a:solidFill>
              </a:defRPr>
            </a:pPr>
            <a:r>
              <a:t>Add agent-ready step detail to JIRA scenarios</a:t>
            </a:r>
          </a:p>
          <a:p>
            <a:pPr>
              <a:spcAft>
                <a:spcPts val="600"/>
              </a:spcAft>
              <a:defRPr sz="1300">
                <a:solidFill>
                  <a:srgbClr val="2D3748"/>
                </a:solidFill>
              </a:defRPr>
            </a:pPr>
            <a:r>
              <a:t>Approve additional application repo sync</a:t>
            </a:r>
          </a:p>
        </p:txBody>
      </p:sp>
      <p:sp>
        <p:nvSpPr>
          <p:cNvPr id="4" name="TextBox 3"/>
          <p:cNvSpPr txBox="1"/>
          <p:nvPr/>
        </p:nvSpPr>
        <p:spPr>
          <a:xfrm>
            <a:off x="4754880" y="914400"/>
            <a:ext cx="3840480" cy="3657600"/>
          </a:xfrm>
          <a:prstGeom prst="rect">
            <a:avLst/>
          </a:prstGeom>
          <a:noFill/>
        </p:spPr>
        <p:txBody>
          <a:bodyPr wrap="square">
            <a:spAutoFit/>
          </a:bodyPr>
          <a:lstStyle/>
          <a:p>
            <a:pPr>
              <a:spcAft>
                <a:spcPts val="600"/>
              </a:spcAft>
              <a:defRPr sz="1300">
                <a:solidFill>
                  <a:srgbClr val="2D3748"/>
                </a:solidFill>
              </a:defRPr>
            </a:pPr>
            <a:r>
              <a:t>Decompose large cases into phased specs or shared fixtures</a:t>
            </a:r>
          </a:p>
          <a:p>
            <a:pPr>
              <a:spcAft>
                <a:spcPts val="600"/>
              </a:spcAft>
              <a:defRPr sz="1300">
                <a:solidFill>
                  <a:srgbClr val="2D3748"/>
                </a:solidFill>
              </a:defRPr>
            </a:pPr>
            <a:r>
              <a:t>Grow the reference test catalog per category</a:t>
            </a:r>
          </a:p>
          <a:p>
            <a:pPr>
              <a:spcAft>
                <a:spcPts val="600"/>
              </a:spcAft>
              <a:defRPr sz="1300">
                <a:solidFill>
                  <a:srgbClr val="2D3748"/>
                </a:solidFill>
              </a:defRPr>
            </a:pPr>
            <a:r>
              <a:t>Cap step count per script with continuation links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8229600" cy="548640"/>
          </a:xfrm>
          <a:prstGeom prst="rect">
            <a:avLst/>
          </a:prstGeom>
          <a:noFill/>
        </p:spPr>
        <p:txBody>
          <a:bodyPr wrap="square">
            <a:spAutoFit/>
          </a:bodyPr>
          <a:lstStyle/>
          <a:p>
            <a:pPr algn="ctr">
              <a:defRPr sz="1800" b="1">
                <a:solidFill>
                  <a:srgbClr val="FFFFFF"/>
                </a:solidFill>
              </a:defRPr>
            </a:pPr>
            <a:r>
              <a:t>R Systems International  |  Confidential — Prepared for Mode Global</a:t>
            </a:r>
          </a:p>
        </p:txBody>
      </p:sp>
      <p:sp>
        <p:nvSpPr>
          <p:cNvPr id="3" name="TextBox 2"/>
          <p:cNvSpPr txBox="1"/>
          <p:nvPr/>
        </p:nvSpPr>
        <p:spPr>
          <a:xfrm>
            <a:off x="457200" y="2468880"/>
            <a:ext cx="8229600" cy="365760"/>
          </a:xfrm>
          <a:prstGeom prst="rect">
            <a:avLst/>
          </a:prstGeom>
          <a:noFill/>
        </p:spPr>
        <p:txBody>
          <a:bodyPr wrap="square">
            <a:spAutoFit/>
          </a:bodyPr>
          <a:lstStyle/>
          <a:p>
            <a:pPr algn="ctr">
              <a:defRPr sz="1300" b="0">
                <a:solidFill>
                  <a:srgbClr val="FFFFFF"/>
                </a:solidFill>
              </a:defRPr>
            </a:pPr>
            <a:r>
              <a:t>Agentic Test Automation Pipeline · SunTeck TMS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b466cbb-621c-493b-8374-6c8f26dc6a18}" enabled="0" method="" siteId="{bb466cbb-621c-493b-8374-6c8f26dc6a18}" removed="1"/>
</clbl:labelList>
</file>

<file path=docProps/app.xml><?xml version="1.0" encoding="utf-8"?>
<Properties xmlns="http://schemas.openxmlformats.org/officeDocument/2006/extended-properties" xmlns:vt="http://schemas.openxmlformats.org/officeDocument/2006/docPropsVTypes">
  <TotalTime>13</TotalTime>
  <Words>915</Words>
  <Application>Microsoft Office PowerPoint</Application>
  <PresentationFormat>On-screen Show (16:9)</PresentationFormat>
  <Paragraphs>157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Aman Jain</cp:lastModifiedBy>
  <cp:revision>1</cp:revision>
  <dcterms:created xsi:type="dcterms:W3CDTF">2013-01-27T09:14:16Z</dcterms:created>
  <dcterms:modified xsi:type="dcterms:W3CDTF">2026-06-30T10:32:45Z</dcterms:modified>
  <cp:category/>
</cp:coreProperties>
</file>